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opener: the algorithm is only half the story. The scoring you choose decides the answer, and this project is about how to tell a good answer from a bad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whole talk: there is no single correct alignment, only the best one for the scoring you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moment. Show the sliders moving and the alignment recoloring. Mention it runs the global and local code I wrote, generalized to proteins.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charts: how the grid is filled and walked back, and how a dot plot shows shared regions at a glance.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good-versus-bad story. Point at the scattered gaps in the bad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Stronger than the toy: even identity favors the wrong answer here. Gap structure is what exposes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centerpiece. Synonymous changes show up in DNA and vanish in protein because the genetic code is redundant.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notebook here and rotate the interactive 3D structure. Red is changed, gray is conserved.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linear views that complement the 3D: where along the chain the changes fall, and the sliding-window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core. End on the bottom line: a good alignment is one whose story is biologically believable and holds up across reasonable settings, not the one with the biggest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real insertion is one event, so extending it should be cheap. Affine scoring matches the biology.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confirmation the engine is right, not just plausible.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then invite the pointed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32E"/>
        </a:solidFill>
      </p:bgPr>
    </p:bg>
    <p:spTree>
      <p:nvGrpSpPr>
        <p:cNvPr id="1" name=""/>
        <p:cNvGrpSpPr/>
        <p:nvPr/>
      </p:nvGrpSpPr>
      <p:grpSpPr>
        <a:xfrm>
          <a:off x="0" y="0"/>
          <a:ext cx="0" cy="0"/>
          <a:chOff x="0" y="0"/>
          <a:chExt cx="0" cy="0"/>
        </a:xfrm>
      </p:grpSpPr>
      <p:sp>
        <p:nvSpPr>
          <p:cNvPr id="2" name="Text 0"/>
          <p:cNvSpPr/>
          <p:nvPr/>
        </p:nvSpPr>
        <p:spPr>
          <a:xfrm>
            <a:off x="822960" y="1828800"/>
            <a:ext cx="10515600" cy="14630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Build and tune your own sequence aligner</a:t>
            </a:r>
            <a:endParaRPr lang="en-US" sz="4400" dirty="0"/>
          </a:p>
        </p:txBody>
      </p:sp>
      <p:sp>
        <p:nvSpPr>
          <p:cNvPr id="3" name="Text 1"/>
          <p:cNvSpPr/>
          <p:nvPr/>
        </p:nvSpPr>
        <p:spPr>
          <a:xfrm>
            <a:off x="868680" y="3200400"/>
            <a:ext cx="9692640" cy="822960"/>
          </a:xfrm>
          <a:prstGeom prst="rect">
            <a:avLst/>
          </a:prstGeom>
          <a:noFill/>
          <a:ln/>
        </p:spPr>
        <p:txBody>
          <a:bodyPr wrap="square" rtlCol="0" anchor="ctr"/>
          <a:lstStyle/>
          <a:p>
            <a:pPr indent="0" marL="0">
              <a:buNone/>
            </a:pPr>
            <a:r>
              <a:rPr lang="en-US" sz="1800" dirty="0">
                <a:solidFill>
                  <a:srgbClr val="CADCD6"/>
                </a:solidFill>
                <a:latin typeface="Arial" pitchFamily="34" charset="0"/>
                <a:ea typeface="Arial" pitchFamily="34" charset="-122"/>
                <a:cs typeface="Arial" pitchFamily="34" charset="-120"/>
              </a:rPr>
              <a:t>Turning global and local alignment into a tool, then using it to ask which alignment is actually right.</a:t>
            </a:r>
            <a:endParaRPr lang="en-US" sz="1800" dirty="0"/>
          </a:p>
        </p:txBody>
      </p:sp>
      <p:sp>
        <p:nvSpPr>
          <p:cNvPr id="4" name="Shape 2"/>
          <p:cNvSpPr/>
          <p:nvPr/>
        </p:nvSpPr>
        <p:spPr>
          <a:xfrm>
            <a:off x="868680" y="4663440"/>
            <a:ext cx="274320" cy="274320"/>
          </a:xfrm>
          <a:prstGeom prst="rect">
            <a:avLst/>
          </a:prstGeom>
          <a:solidFill>
            <a:srgbClr val="2E7D46"/>
          </a:solidFill>
          <a:ln/>
        </p:spPr>
      </p:sp>
      <p:sp>
        <p:nvSpPr>
          <p:cNvPr id="5" name="Text 3"/>
          <p:cNvSpPr/>
          <p:nvPr/>
        </p:nvSpPr>
        <p:spPr>
          <a:xfrm>
            <a:off x="868680"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6" name="Shape 4"/>
          <p:cNvSpPr/>
          <p:nvPr/>
        </p:nvSpPr>
        <p:spPr>
          <a:xfrm>
            <a:off x="868680" y="4974336"/>
            <a:ext cx="274320" cy="274320"/>
          </a:xfrm>
          <a:prstGeom prst="rect">
            <a:avLst/>
          </a:prstGeom>
          <a:solidFill>
            <a:srgbClr val="2E7D46"/>
          </a:solidFill>
          <a:ln/>
        </p:spPr>
      </p:sp>
      <p:sp>
        <p:nvSpPr>
          <p:cNvPr id="7" name="Text 5"/>
          <p:cNvSpPr/>
          <p:nvPr/>
        </p:nvSpPr>
        <p:spPr>
          <a:xfrm>
            <a:off x="868680"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8" name="Shape 6"/>
          <p:cNvSpPr/>
          <p:nvPr/>
        </p:nvSpPr>
        <p:spPr>
          <a:xfrm>
            <a:off x="1179576" y="4663440"/>
            <a:ext cx="274320" cy="274320"/>
          </a:xfrm>
          <a:prstGeom prst="rect">
            <a:avLst/>
          </a:prstGeom>
          <a:solidFill>
            <a:srgbClr val="2E7D46"/>
          </a:solidFill>
          <a:ln/>
        </p:spPr>
      </p:sp>
      <p:sp>
        <p:nvSpPr>
          <p:cNvPr id="9" name="Text 7"/>
          <p:cNvSpPr/>
          <p:nvPr/>
        </p:nvSpPr>
        <p:spPr>
          <a:xfrm>
            <a:off x="1179576"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C</a:t>
            </a:r>
            <a:endParaRPr lang="en-US" sz="1100" dirty="0"/>
          </a:p>
        </p:txBody>
      </p:sp>
      <p:sp>
        <p:nvSpPr>
          <p:cNvPr id="10" name="Shape 8"/>
          <p:cNvSpPr/>
          <p:nvPr/>
        </p:nvSpPr>
        <p:spPr>
          <a:xfrm>
            <a:off x="1179576" y="4974336"/>
            <a:ext cx="274320" cy="274320"/>
          </a:xfrm>
          <a:prstGeom prst="rect">
            <a:avLst/>
          </a:prstGeom>
          <a:solidFill>
            <a:srgbClr val="2E7D46"/>
          </a:solidFill>
          <a:ln/>
        </p:spPr>
      </p:sp>
      <p:sp>
        <p:nvSpPr>
          <p:cNvPr id="11" name="Text 9"/>
          <p:cNvSpPr/>
          <p:nvPr/>
        </p:nvSpPr>
        <p:spPr>
          <a:xfrm>
            <a:off x="1179576"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C</a:t>
            </a:r>
            <a:endParaRPr lang="en-US" sz="1100" dirty="0"/>
          </a:p>
        </p:txBody>
      </p:sp>
      <p:sp>
        <p:nvSpPr>
          <p:cNvPr id="12" name="Shape 10"/>
          <p:cNvSpPr/>
          <p:nvPr/>
        </p:nvSpPr>
        <p:spPr>
          <a:xfrm>
            <a:off x="1490472" y="4663440"/>
            <a:ext cx="274320" cy="274320"/>
          </a:xfrm>
          <a:prstGeom prst="rect">
            <a:avLst/>
          </a:prstGeom>
          <a:solidFill>
            <a:srgbClr val="2E7D46"/>
          </a:solidFill>
          <a:ln/>
        </p:spPr>
      </p:sp>
      <p:sp>
        <p:nvSpPr>
          <p:cNvPr id="13" name="Text 11"/>
          <p:cNvSpPr/>
          <p:nvPr/>
        </p:nvSpPr>
        <p:spPr>
          <a:xfrm>
            <a:off x="1490472"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14" name="Shape 12"/>
          <p:cNvSpPr/>
          <p:nvPr/>
        </p:nvSpPr>
        <p:spPr>
          <a:xfrm>
            <a:off x="1490472" y="4974336"/>
            <a:ext cx="274320" cy="274320"/>
          </a:xfrm>
          <a:prstGeom prst="rect">
            <a:avLst/>
          </a:prstGeom>
          <a:solidFill>
            <a:srgbClr val="2E7D46"/>
          </a:solidFill>
          <a:ln/>
        </p:spPr>
      </p:sp>
      <p:sp>
        <p:nvSpPr>
          <p:cNvPr id="15" name="Text 13"/>
          <p:cNvSpPr/>
          <p:nvPr/>
        </p:nvSpPr>
        <p:spPr>
          <a:xfrm>
            <a:off x="1490472"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16" name="Shape 14"/>
          <p:cNvSpPr/>
          <p:nvPr/>
        </p:nvSpPr>
        <p:spPr>
          <a:xfrm>
            <a:off x="1801368" y="4663440"/>
            <a:ext cx="274320" cy="274320"/>
          </a:xfrm>
          <a:prstGeom prst="rect">
            <a:avLst/>
          </a:prstGeom>
          <a:solidFill>
            <a:srgbClr val="6E8079"/>
          </a:solidFill>
          <a:ln/>
        </p:spPr>
      </p:sp>
      <p:sp>
        <p:nvSpPr>
          <p:cNvPr id="17" name="Text 15"/>
          <p:cNvSpPr/>
          <p:nvPr/>
        </p:nvSpPr>
        <p:spPr>
          <a:xfrm>
            <a:off x="1801368"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T</a:t>
            </a:r>
            <a:endParaRPr lang="en-US" sz="1100" dirty="0"/>
          </a:p>
        </p:txBody>
      </p:sp>
      <p:sp>
        <p:nvSpPr>
          <p:cNvPr id="18" name="Shape 16"/>
          <p:cNvSpPr/>
          <p:nvPr/>
        </p:nvSpPr>
        <p:spPr>
          <a:xfrm>
            <a:off x="1801368" y="4974336"/>
            <a:ext cx="274320" cy="274320"/>
          </a:xfrm>
          <a:prstGeom prst="rect">
            <a:avLst/>
          </a:prstGeom>
          <a:solidFill>
            <a:srgbClr val="6E8079"/>
          </a:solidFill>
          <a:ln/>
        </p:spPr>
      </p:sp>
      <p:sp>
        <p:nvSpPr>
          <p:cNvPr id="19" name="Text 17"/>
          <p:cNvSpPr/>
          <p:nvPr/>
        </p:nvSpPr>
        <p:spPr>
          <a:xfrm>
            <a:off x="1801368"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20" name="Shape 18"/>
          <p:cNvSpPr/>
          <p:nvPr/>
        </p:nvSpPr>
        <p:spPr>
          <a:xfrm>
            <a:off x="2112264" y="4663440"/>
            <a:ext cx="274320" cy="274320"/>
          </a:xfrm>
          <a:prstGeom prst="rect">
            <a:avLst/>
          </a:prstGeom>
          <a:solidFill>
            <a:srgbClr val="2E7D46"/>
          </a:solidFill>
          <a:ln/>
        </p:spPr>
      </p:sp>
      <p:sp>
        <p:nvSpPr>
          <p:cNvPr id="21" name="Text 19"/>
          <p:cNvSpPr/>
          <p:nvPr/>
        </p:nvSpPr>
        <p:spPr>
          <a:xfrm>
            <a:off x="2112264"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22" name="Shape 20"/>
          <p:cNvSpPr/>
          <p:nvPr/>
        </p:nvSpPr>
        <p:spPr>
          <a:xfrm>
            <a:off x="2112264" y="4974336"/>
            <a:ext cx="274320" cy="274320"/>
          </a:xfrm>
          <a:prstGeom prst="rect">
            <a:avLst/>
          </a:prstGeom>
          <a:solidFill>
            <a:srgbClr val="2E7D46"/>
          </a:solidFill>
          <a:ln/>
        </p:spPr>
      </p:sp>
      <p:sp>
        <p:nvSpPr>
          <p:cNvPr id="23" name="Text 21"/>
          <p:cNvSpPr/>
          <p:nvPr/>
        </p:nvSpPr>
        <p:spPr>
          <a:xfrm>
            <a:off x="2112264"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24" name="Shape 22"/>
          <p:cNvSpPr/>
          <p:nvPr/>
        </p:nvSpPr>
        <p:spPr>
          <a:xfrm>
            <a:off x="2423160" y="4663440"/>
            <a:ext cx="274320" cy="274320"/>
          </a:xfrm>
          <a:prstGeom prst="rect">
            <a:avLst/>
          </a:prstGeom>
          <a:solidFill>
            <a:srgbClr val="D98A26"/>
          </a:solidFill>
          <a:ln/>
        </p:spPr>
      </p:sp>
      <p:sp>
        <p:nvSpPr>
          <p:cNvPr id="25" name="Text 23"/>
          <p:cNvSpPr/>
          <p:nvPr/>
        </p:nvSpPr>
        <p:spPr>
          <a:xfrm>
            <a:off x="2423160"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C</a:t>
            </a:r>
            <a:endParaRPr lang="en-US" sz="1100" dirty="0"/>
          </a:p>
        </p:txBody>
      </p:sp>
      <p:sp>
        <p:nvSpPr>
          <p:cNvPr id="26" name="Shape 24"/>
          <p:cNvSpPr/>
          <p:nvPr/>
        </p:nvSpPr>
        <p:spPr>
          <a:xfrm>
            <a:off x="2423160" y="4974336"/>
            <a:ext cx="274320" cy="274320"/>
          </a:xfrm>
          <a:prstGeom prst="rect">
            <a:avLst/>
          </a:prstGeom>
          <a:solidFill>
            <a:srgbClr val="D98A26"/>
          </a:solidFill>
          <a:ln/>
        </p:spPr>
      </p:sp>
      <p:sp>
        <p:nvSpPr>
          <p:cNvPr id="27" name="Text 25"/>
          <p:cNvSpPr/>
          <p:nvPr/>
        </p:nvSpPr>
        <p:spPr>
          <a:xfrm>
            <a:off x="2423160"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28" name="Shape 26"/>
          <p:cNvSpPr/>
          <p:nvPr/>
        </p:nvSpPr>
        <p:spPr>
          <a:xfrm>
            <a:off x="2734056" y="4663440"/>
            <a:ext cx="274320" cy="274320"/>
          </a:xfrm>
          <a:prstGeom prst="rect">
            <a:avLst/>
          </a:prstGeom>
          <a:solidFill>
            <a:srgbClr val="2E7D46"/>
          </a:solidFill>
          <a:ln/>
        </p:spPr>
      </p:sp>
      <p:sp>
        <p:nvSpPr>
          <p:cNvPr id="29" name="Text 27"/>
          <p:cNvSpPr/>
          <p:nvPr/>
        </p:nvSpPr>
        <p:spPr>
          <a:xfrm>
            <a:off x="2734056"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30" name="Shape 28"/>
          <p:cNvSpPr/>
          <p:nvPr/>
        </p:nvSpPr>
        <p:spPr>
          <a:xfrm>
            <a:off x="2734056" y="4974336"/>
            <a:ext cx="274320" cy="274320"/>
          </a:xfrm>
          <a:prstGeom prst="rect">
            <a:avLst/>
          </a:prstGeom>
          <a:solidFill>
            <a:srgbClr val="2E7D46"/>
          </a:solidFill>
          <a:ln/>
        </p:spPr>
      </p:sp>
      <p:sp>
        <p:nvSpPr>
          <p:cNvPr id="31" name="Text 29"/>
          <p:cNvSpPr/>
          <p:nvPr/>
        </p:nvSpPr>
        <p:spPr>
          <a:xfrm>
            <a:off x="2734056"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32" name="Shape 30"/>
          <p:cNvSpPr/>
          <p:nvPr/>
        </p:nvSpPr>
        <p:spPr>
          <a:xfrm>
            <a:off x="3044952" y="4663440"/>
            <a:ext cx="274320" cy="274320"/>
          </a:xfrm>
          <a:prstGeom prst="rect">
            <a:avLst/>
          </a:prstGeom>
          <a:solidFill>
            <a:srgbClr val="2E7D46"/>
          </a:solidFill>
          <a:ln/>
        </p:spPr>
      </p:sp>
      <p:sp>
        <p:nvSpPr>
          <p:cNvPr id="33" name="Text 31"/>
          <p:cNvSpPr/>
          <p:nvPr/>
        </p:nvSpPr>
        <p:spPr>
          <a:xfrm>
            <a:off x="3044952"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T</a:t>
            </a:r>
            <a:endParaRPr lang="en-US" sz="1100" dirty="0"/>
          </a:p>
        </p:txBody>
      </p:sp>
      <p:sp>
        <p:nvSpPr>
          <p:cNvPr id="34" name="Shape 32"/>
          <p:cNvSpPr/>
          <p:nvPr/>
        </p:nvSpPr>
        <p:spPr>
          <a:xfrm>
            <a:off x="3044952" y="4974336"/>
            <a:ext cx="274320" cy="274320"/>
          </a:xfrm>
          <a:prstGeom prst="rect">
            <a:avLst/>
          </a:prstGeom>
          <a:solidFill>
            <a:srgbClr val="2E7D46"/>
          </a:solidFill>
          <a:ln/>
        </p:spPr>
      </p:sp>
      <p:sp>
        <p:nvSpPr>
          <p:cNvPr id="35" name="Text 33"/>
          <p:cNvSpPr/>
          <p:nvPr/>
        </p:nvSpPr>
        <p:spPr>
          <a:xfrm>
            <a:off x="3044952"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T</a:t>
            </a:r>
            <a:endParaRPr lang="en-US" sz="1100" dirty="0"/>
          </a:p>
        </p:txBody>
      </p:sp>
      <p:sp>
        <p:nvSpPr>
          <p:cNvPr id="36" name="Shape 34"/>
          <p:cNvSpPr/>
          <p:nvPr/>
        </p:nvSpPr>
        <p:spPr>
          <a:xfrm>
            <a:off x="3355848" y="4663440"/>
            <a:ext cx="274320" cy="274320"/>
          </a:xfrm>
          <a:prstGeom prst="rect">
            <a:avLst/>
          </a:prstGeom>
          <a:solidFill>
            <a:srgbClr val="2E7D46"/>
          </a:solidFill>
          <a:ln/>
        </p:spPr>
      </p:sp>
      <p:sp>
        <p:nvSpPr>
          <p:cNvPr id="37" name="Text 35"/>
          <p:cNvSpPr/>
          <p:nvPr/>
        </p:nvSpPr>
        <p:spPr>
          <a:xfrm>
            <a:off x="3355848"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38" name="Shape 36"/>
          <p:cNvSpPr/>
          <p:nvPr/>
        </p:nvSpPr>
        <p:spPr>
          <a:xfrm>
            <a:off x="3355848" y="4974336"/>
            <a:ext cx="274320" cy="274320"/>
          </a:xfrm>
          <a:prstGeom prst="rect">
            <a:avLst/>
          </a:prstGeom>
          <a:solidFill>
            <a:srgbClr val="2E7D46"/>
          </a:solidFill>
          <a:ln/>
        </p:spPr>
      </p:sp>
      <p:sp>
        <p:nvSpPr>
          <p:cNvPr id="39" name="Text 37"/>
          <p:cNvSpPr/>
          <p:nvPr/>
        </p:nvSpPr>
        <p:spPr>
          <a:xfrm>
            <a:off x="3355848"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40" name="Shape 38"/>
          <p:cNvSpPr/>
          <p:nvPr/>
        </p:nvSpPr>
        <p:spPr>
          <a:xfrm>
            <a:off x="3666744" y="4663440"/>
            <a:ext cx="274320" cy="274320"/>
          </a:xfrm>
          <a:prstGeom prst="rect">
            <a:avLst/>
          </a:prstGeom>
          <a:solidFill>
            <a:srgbClr val="6E8079"/>
          </a:solidFill>
          <a:ln/>
        </p:spPr>
      </p:sp>
      <p:sp>
        <p:nvSpPr>
          <p:cNvPr id="41" name="Text 39"/>
          <p:cNvSpPr/>
          <p:nvPr/>
        </p:nvSpPr>
        <p:spPr>
          <a:xfrm>
            <a:off x="3666744"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t>
            </a:r>
            <a:endParaRPr lang="en-US" sz="1100" dirty="0"/>
          </a:p>
        </p:txBody>
      </p:sp>
      <p:sp>
        <p:nvSpPr>
          <p:cNvPr id="42" name="Shape 40"/>
          <p:cNvSpPr/>
          <p:nvPr/>
        </p:nvSpPr>
        <p:spPr>
          <a:xfrm>
            <a:off x="3666744" y="4974336"/>
            <a:ext cx="274320" cy="274320"/>
          </a:xfrm>
          <a:prstGeom prst="rect">
            <a:avLst/>
          </a:prstGeom>
          <a:solidFill>
            <a:srgbClr val="6E8079"/>
          </a:solidFill>
          <a:ln/>
        </p:spPr>
      </p:sp>
      <p:sp>
        <p:nvSpPr>
          <p:cNvPr id="43" name="Text 41"/>
          <p:cNvSpPr/>
          <p:nvPr/>
        </p:nvSpPr>
        <p:spPr>
          <a:xfrm>
            <a:off x="3666744"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C</a:t>
            </a:r>
            <a:endParaRPr lang="en-US" sz="1100" dirty="0"/>
          </a:p>
        </p:txBody>
      </p:sp>
      <p:sp>
        <p:nvSpPr>
          <p:cNvPr id="44" name="Shape 42"/>
          <p:cNvSpPr/>
          <p:nvPr/>
        </p:nvSpPr>
        <p:spPr>
          <a:xfrm>
            <a:off x="3977640" y="4663440"/>
            <a:ext cx="274320" cy="274320"/>
          </a:xfrm>
          <a:prstGeom prst="rect">
            <a:avLst/>
          </a:prstGeom>
          <a:solidFill>
            <a:srgbClr val="2E7D46"/>
          </a:solidFill>
          <a:ln/>
        </p:spPr>
      </p:sp>
      <p:sp>
        <p:nvSpPr>
          <p:cNvPr id="45" name="Text 43"/>
          <p:cNvSpPr/>
          <p:nvPr/>
        </p:nvSpPr>
        <p:spPr>
          <a:xfrm>
            <a:off x="3977640"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46" name="Shape 44"/>
          <p:cNvSpPr/>
          <p:nvPr/>
        </p:nvSpPr>
        <p:spPr>
          <a:xfrm>
            <a:off x="3977640" y="4974336"/>
            <a:ext cx="274320" cy="274320"/>
          </a:xfrm>
          <a:prstGeom prst="rect">
            <a:avLst/>
          </a:prstGeom>
          <a:solidFill>
            <a:srgbClr val="2E7D46"/>
          </a:solidFill>
          <a:ln/>
        </p:spPr>
      </p:sp>
      <p:sp>
        <p:nvSpPr>
          <p:cNvPr id="47" name="Text 45"/>
          <p:cNvSpPr/>
          <p:nvPr/>
        </p:nvSpPr>
        <p:spPr>
          <a:xfrm>
            <a:off x="3977640"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48" name="Shape 46"/>
          <p:cNvSpPr/>
          <p:nvPr/>
        </p:nvSpPr>
        <p:spPr>
          <a:xfrm>
            <a:off x="4288536" y="4663440"/>
            <a:ext cx="274320" cy="274320"/>
          </a:xfrm>
          <a:prstGeom prst="rect">
            <a:avLst/>
          </a:prstGeom>
          <a:solidFill>
            <a:srgbClr val="2E7D46"/>
          </a:solidFill>
          <a:ln/>
        </p:spPr>
      </p:sp>
      <p:sp>
        <p:nvSpPr>
          <p:cNvPr id="49" name="Text 47"/>
          <p:cNvSpPr/>
          <p:nvPr/>
        </p:nvSpPr>
        <p:spPr>
          <a:xfrm>
            <a:off x="4288536"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C</a:t>
            </a:r>
            <a:endParaRPr lang="en-US" sz="1100" dirty="0"/>
          </a:p>
        </p:txBody>
      </p:sp>
      <p:sp>
        <p:nvSpPr>
          <p:cNvPr id="50" name="Shape 48"/>
          <p:cNvSpPr/>
          <p:nvPr/>
        </p:nvSpPr>
        <p:spPr>
          <a:xfrm>
            <a:off x="4288536" y="4974336"/>
            <a:ext cx="274320" cy="274320"/>
          </a:xfrm>
          <a:prstGeom prst="rect">
            <a:avLst/>
          </a:prstGeom>
          <a:solidFill>
            <a:srgbClr val="2E7D46"/>
          </a:solidFill>
          <a:ln/>
        </p:spPr>
      </p:sp>
      <p:sp>
        <p:nvSpPr>
          <p:cNvPr id="51" name="Text 49"/>
          <p:cNvSpPr/>
          <p:nvPr/>
        </p:nvSpPr>
        <p:spPr>
          <a:xfrm>
            <a:off x="4288536"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C</a:t>
            </a:r>
            <a:endParaRPr lang="en-US" sz="1100" dirty="0"/>
          </a:p>
        </p:txBody>
      </p:sp>
      <p:sp>
        <p:nvSpPr>
          <p:cNvPr id="52" name="Shape 50"/>
          <p:cNvSpPr/>
          <p:nvPr/>
        </p:nvSpPr>
        <p:spPr>
          <a:xfrm>
            <a:off x="4599432" y="4663440"/>
            <a:ext cx="274320" cy="274320"/>
          </a:xfrm>
          <a:prstGeom prst="rect">
            <a:avLst/>
          </a:prstGeom>
          <a:solidFill>
            <a:srgbClr val="2E7D46"/>
          </a:solidFill>
          <a:ln/>
        </p:spPr>
      </p:sp>
      <p:sp>
        <p:nvSpPr>
          <p:cNvPr id="53" name="Text 51"/>
          <p:cNvSpPr/>
          <p:nvPr/>
        </p:nvSpPr>
        <p:spPr>
          <a:xfrm>
            <a:off x="4599432"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54" name="Shape 52"/>
          <p:cNvSpPr/>
          <p:nvPr/>
        </p:nvSpPr>
        <p:spPr>
          <a:xfrm>
            <a:off x="4599432" y="4974336"/>
            <a:ext cx="274320" cy="274320"/>
          </a:xfrm>
          <a:prstGeom prst="rect">
            <a:avLst/>
          </a:prstGeom>
          <a:solidFill>
            <a:srgbClr val="2E7D46"/>
          </a:solidFill>
          <a:ln/>
        </p:spPr>
      </p:sp>
      <p:sp>
        <p:nvSpPr>
          <p:cNvPr id="55" name="Text 53"/>
          <p:cNvSpPr/>
          <p:nvPr/>
        </p:nvSpPr>
        <p:spPr>
          <a:xfrm>
            <a:off x="4599432"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56" name="Shape 54"/>
          <p:cNvSpPr/>
          <p:nvPr/>
        </p:nvSpPr>
        <p:spPr>
          <a:xfrm>
            <a:off x="4910328" y="4663440"/>
            <a:ext cx="274320" cy="274320"/>
          </a:xfrm>
          <a:prstGeom prst="rect">
            <a:avLst/>
          </a:prstGeom>
          <a:solidFill>
            <a:srgbClr val="2E7D46"/>
          </a:solidFill>
          <a:ln/>
        </p:spPr>
      </p:sp>
      <p:sp>
        <p:nvSpPr>
          <p:cNvPr id="57" name="Text 55"/>
          <p:cNvSpPr/>
          <p:nvPr/>
        </p:nvSpPr>
        <p:spPr>
          <a:xfrm>
            <a:off x="4910328"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T</a:t>
            </a:r>
            <a:endParaRPr lang="en-US" sz="1100" dirty="0"/>
          </a:p>
        </p:txBody>
      </p:sp>
      <p:sp>
        <p:nvSpPr>
          <p:cNvPr id="58" name="Shape 56"/>
          <p:cNvSpPr/>
          <p:nvPr/>
        </p:nvSpPr>
        <p:spPr>
          <a:xfrm>
            <a:off x="4910328" y="4974336"/>
            <a:ext cx="274320" cy="274320"/>
          </a:xfrm>
          <a:prstGeom prst="rect">
            <a:avLst/>
          </a:prstGeom>
          <a:solidFill>
            <a:srgbClr val="2E7D46"/>
          </a:solidFill>
          <a:ln/>
        </p:spPr>
      </p:sp>
      <p:sp>
        <p:nvSpPr>
          <p:cNvPr id="59" name="Text 57"/>
          <p:cNvSpPr/>
          <p:nvPr/>
        </p:nvSpPr>
        <p:spPr>
          <a:xfrm>
            <a:off x="4910328"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T</a:t>
            </a:r>
            <a:endParaRPr lang="en-US" sz="1100" dirty="0"/>
          </a:p>
        </p:txBody>
      </p:sp>
      <p:sp>
        <p:nvSpPr>
          <p:cNvPr id="60" name="Shape 58"/>
          <p:cNvSpPr/>
          <p:nvPr/>
        </p:nvSpPr>
        <p:spPr>
          <a:xfrm>
            <a:off x="5221224" y="4663440"/>
            <a:ext cx="274320" cy="274320"/>
          </a:xfrm>
          <a:prstGeom prst="rect">
            <a:avLst/>
          </a:prstGeom>
          <a:solidFill>
            <a:srgbClr val="2E7D46"/>
          </a:solidFill>
          <a:ln/>
        </p:spPr>
      </p:sp>
      <p:sp>
        <p:nvSpPr>
          <p:cNvPr id="61" name="Text 59"/>
          <p:cNvSpPr/>
          <p:nvPr/>
        </p:nvSpPr>
        <p:spPr>
          <a:xfrm>
            <a:off x="5221224"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62" name="Shape 60"/>
          <p:cNvSpPr/>
          <p:nvPr/>
        </p:nvSpPr>
        <p:spPr>
          <a:xfrm>
            <a:off x="5221224" y="4974336"/>
            <a:ext cx="274320" cy="274320"/>
          </a:xfrm>
          <a:prstGeom prst="rect">
            <a:avLst/>
          </a:prstGeom>
          <a:solidFill>
            <a:srgbClr val="2E7D46"/>
          </a:solidFill>
          <a:ln/>
        </p:spPr>
      </p:sp>
      <p:sp>
        <p:nvSpPr>
          <p:cNvPr id="63" name="Text 61"/>
          <p:cNvSpPr/>
          <p:nvPr/>
        </p:nvSpPr>
        <p:spPr>
          <a:xfrm>
            <a:off x="5221224"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G</a:t>
            </a:r>
            <a:endParaRPr lang="en-US" sz="1100" dirty="0"/>
          </a:p>
        </p:txBody>
      </p:sp>
      <p:sp>
        <p:nvSpPr>
          <p:cNvPr id="64" name="Shape 62"/>
          <p:cNvSpPr/>
          <p:nvPr/>
        </p:nvSpPr>
        <p:spPr>
          <a:xfrm>
            <a:off x="5532120" y="4663440"/>
            <a:ext cx="274320" cy="274320"/>
          </a:xfrm>
          <a:prstGeom prst="rect">
            <a:avLst/>
          </a:prstGeom>
          <a:solidFill>
            <a:srgbClr val="2E7D46"/>
          </a:solidFill>
          <a:ln/>
        </p:spPr>
      </p:sp>
      <p:sp>
        <p:nvSpPr>
          <p:cNvPr id="65" name="Text 63"/>
          <p:cNvSpPr/>
          <p:nvPr/>
        </p:nvSpPr>
        <p:spPr>
          <a:xfrm>
            <a:off x="5532120" y="466344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66" name="Shape 64"/>
          <p:cNvSpPr/>
          <p:nvPr/>
        </p:nvSpPr>
        <p:spPr>
          <a:xfrm>
            <a:off x="5532120" y="4974336"/>
            <a:ext cx="274320" cy="274320"/>
          </a:xfrm>
          <a:prstGeom prst="rect">
            <a:avLst/>
          </a:prstGeom>
          <a:solidFill>
            <a:srgbClr val="2E7D46"/>
          </a:solidFill>
          <a:ln/>
        </p:spPr>
      </p:sp>
      <p:sp>
        <p:nvSpPr>
          <p:cNvPr id="67" name="Text 65"/>
          <p:cNvSpPr/>
          <p:nvPr/>
        </p:nvSpPr>
        <p:spPr>
          <a:xfrm>
            <a:off x="5532120" y="497433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ourier New" pitchFamily="34" charset="0"/>
                <a:ea typeface="Courier New" pitchFamily="34" charset="-122"/>
                <a:cs typeface="Courier New" pitchFamily="34" charset="-120"/>
              </a:rPr>
              <a:t>A</a:t>
            </a:r>
            <a:endParaRPr lang="en-US" sz="1100" dirty="0"/>
          </a:p>
        </p:txBody>
      </p:sp>
      <p:sp>
        <p:nvSpPr>
          <p:cNvPr id="68" name="Text 66"/>
          <p:cNvSpPr/>
          <p:nvPr/>
        </p:nvSpPr>
        <p:spPr>
          <a:xfrm>
            <a:off x="868680" y="6126480"/>
            <a:ext cx="10058400" cy="365760"/>
          </a:xfrm>
          <a:prstGeom prst="rect">
            <a:avLst/>
          </a:prstGeom>
          <a:noFill/>
          <a:ln/>
        </p:spPr>
        <p:txBody>
          <a:bodyPr wrap="square" rtlCol="0" anchor="ctr"/>
          <a:lstStyle/>
          <a:p>
            <a:pPr indent="0" marL="0">
              <a:buNone/>
            </a:pPr>
            <a:r>
              <a:rPr lang="en-US" sz="1300" dirty="0">
                <a:solidFill>
                  <a:srgbClr val="9DB3AC"/>
                </a:solidFill>
                <a:latin typeface="Arial" pitchFamily="34" charset="0"/>
                <a:ea typeface="Arial" pitchFamily="34" charset="-122"/>
                <a:cs typeface="Arial" pitchFamily="34" charset="-120"/>
              </a:rPr>
              <a:t>Thomas    |    CMU Pre-College Computational Biology    |    Module 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C43D2E"/>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THE PROBLEM</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Change the scoring, change the alignment</a:t>
            </a:r>
            <a:endParaRPr lang="en-US" sz="3000" dirty="0"/>
          </a:p>
        </p:txBody>
      </p:sp>
      <p:sp>
        <p:nvSpPr>
          <p:cNvPr id="5" name="Text 3"/>
          <p:cNvSpPr/>
          <p:nvPr/>
        </p:nvSpPr>
        <p:spPr>
          <a:xfrm>
            <a:off x="548640" y="1828800"/>
            <a:ext cx="6400800" cy="1280160"/>
          </a:xfrm>
          <a:prstGeom prst="rect">
            <a:avLst/>
          </a:prstGeom>
          <a:noFill/>
          <a:ln/>
        </p:spPr>
        <p:txBody>
          <a:bodyPr wrap="square" rtlCol="0" anchor="t"/>
          <a:lstStyle/>
          <a:p>
            <a:pPr indent="0" marL="0">
              <a:spcAft>
                <a:spcPts val="1000"/>
              </a:spcAft>
              <a:buNone/>
            </a:pPr>
            <a:r>
              <a:rPr lang="en-US" sz="1800" dirty="0">
                <a:solidFill>
                  <a:srgbClr val="1A2B28"/>
                </a:solidFill>
                <a:latin typeface="Arial" pitchFamily="34" charset="0"/>
                <a:ea typeface="Arial" pitchFamily="34" charset="-122"/>
                <a:cs typeface="Arial" pitchFamily="34" charset="-120"/>
              </a:rPr>
              <a:t>The same two sequences can line up sensibly or turn into nonsense, depending only on three numbers you pick:</a:t>
            </a:r>
            <a:endParaRPr lang="en-US" sz="1800" dirty="0"/>
          </a:p>
        </p:txBody>
      </p:sp>
      <p:sp>
        <p:nvSpPr>
          <p:cNvPr id="6" name="Text 4"/>
          <p:cNvSpPr/>
          <p:nvPr/>
        </p:nvSpPr>
        <p:spPr>
          <a:xfrm>
            <a:off x="548640" y="3291840"/>
            <a:ext cx="6400800" cy="914400"/>
          </a:xfrm>
          <a:prstGeom prst="rect">
            <a:avLst/>
          </a:prstGeom>
          <a:noFill/>
          <a:ln/>
        </p:spPr>
        <p:txBody>
          <a:bodyPr wrap="square" rtlCol="0" anchor="ctr"/>
          <a:lstStyle/>
          <a:p>
            <a:pPr indent="0" marL="0">
              <a:buNone/>
            </a:pPr>
            <a:r>
              <a:rPr lang="en-US" sz="2000" i="1" dirty="0">
                <a:solidFill>
                  <a:srgbClr val="2E7D46"/>
                </a:solidFill>
                <a:latin typeface="Cambria" pitchFamily="34" charset="0"/>
                <a:ea typeface="Cambria" pitchFamily="34" charset="-122"/>
                <a:cs typeface="Cambria" pitchFamily="34" charset="-120"/>
              </a:rPr>
              <a:t>So which alignment is right, and how would you know?</a:t>
            </a:r>
            <a:endParaRPr lang="en-US" sz="2000" dirty="0"/>
          </a:p>
        </p:txBody>
      </p:sp>
      <p:sp>
        <p:nvSpPr>
          <p:cNvPr id="7" name="Shape 5"/>
          <p:cNvSpPr/>
          <p:nvPr/>
        </p:nvSpPr>
        <p:spPr>
          <a:xfrm>
            <a:off x="7406640" y="1737360"/>
            <a:ext cx="4206240" cy="3840480"/>
          </a:xfrm>
          <a:prstGeom prst="roundRect">
            <a:avLst>
              <a:gd name="adj" fmla="val 1905"/>
            </a:avLst>
          </a:prstGeom>
          <a:solidFill>
            <a:srgbClr val="F2F5F3"/>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8" name="Text 6"/>
          <p:cNvSpPr/>
          <p:nvPr/>
        </p:nvSpPr>
        <p:spPr>
          <a:xfrm>
            <a:off x="7680960" y="1920240"/>
            <a:ext cx="3657600" cy="457200"/>
          </a:xfrm>
          <a:prstGeom prst="rect">
            <a:avLst/>
          </a:prstGeom>
          <a:noFill/>
          <a:ln/>
        </p:spPr>
        <p:txBody>
          <a:bodyPr wrap="square" rtlCol="0" anchor="ctr"/>
          <a:lstStyle/>
          <a:p>
            <a:pPr indent="0" marL="0">
              <a:buNone/>
            </a:pPr>
            <a:r>
              <a:rPr lang="en-US" sz="1800" b="1" dirty="0">
                <a:solidFill>
                  <a:srgbClr val="1A2B28"/>
                </a:solidFill>
                <a:latin typeface="Cambria" pitchFamily="34" charset="0"/>
                <a:ea typeface="Cambria" pitchFamily="34" charset="-122"/>
                <a:cs typeface="Cambria" pitchFamily="34" charset="-120"/>
              </a:rPr>
              <a:t>The three knobs</a:t>
            </a:r>
            <a:endParaRPr lang="en-US" sz="1800" dirty="0"/>
          </a:p>
        </p:txBody>
      </p:sp>
      <p:sp>
        <p:nvSpPr>
          <p:cNvPr id="9" name="Shape 7"/>
          <p:cNvSpPr/>
          <p:nvPr/>
        </p:nvSpPr>
        <p:spPr>
          <a:xfrm>
            <a:off x="7680960" y="2560320"/>
            <a:ext cx="201168" cy="201168"/>
          </a:xfrm>
          <a:prstGeom prst="ellipse">
            <a:avLst/>
          </a:prstGeom>
          <a:solidFill>
            <a:srgbClr val="2E7D46"/>
          </a:solidFill>
          <a:ln/>
        </p:spPr>
      </p:sp>
      <p:sp>
        <p:nvSpPr>
          <p:cNvPr id="10" name="Text 8"/>
          <p:cNvSpPr/>
          <p:nvPr/>
        </p:nvSpPr>
        <p:spPr>
          <a:xfrm>
            <a:off x="8001000" y="2468880"/>
            <a:ext cx="3383280" cy="320040"/>
          </a:xfrm>
          <a:prstGeom prst="rect">
            <a:avLst/>
          </a:prstGeom>
          <a:noFill/>
          <a:ln/>
        </p:spPr>
        <p:txBody>
          <a:bodyPr wrap="square" lIns="0" tIns="0" rIns="0" bIns="0" rtlCol="0" anchor="ctr"/>
          <a:lstStyle/>
          <a:p>
            <a:pPr indent="0" marL="0">
              <a:buNone/>
            </a:pPr>
            <a:r>
              <a:rPr lang="en-US" sz="1500" b="1" dirty="0">
                <a:solidFill>
                  <a:srgbClr val="1A2B28"/>
                </a:solidFill>
                <a:latin typeface="Arial" pitchFamily="34" charset="0"/>
                <a:ea typeface="Arial" pitchFamily="34" charset="-122"/>
                <a:cs typeface="Arial" pitchFamily="34" charset="-120"/>
              </a:rPr>
              <a:t>Match reward</a:t>
            </a:r>
            <a:endParaRPr lang="en-US" sz="1500" dirty="0"/>
          </a:p>
        </p:txBody>
      </p:sp>
      <p:sp>
        <p:nvSpPr>
          <p:cNvPr id="11" name="Text 9"/>
          <p:cNvSpPr/>
          <p:nvPr/>
        </p:nvSpPr>
        <p:spPr>
          <a:xfrm>
            <a:off x="8001000" y="2788920"/>
            <a:ext cx="3383280" cy="457200"/>
          </a:xfrm>
          <a:prstGeom prst="rect">
            <a:avLst/>
          </a:prstGeom>
          <a:noFill/>
          <a:ln/>
        </p:spPr>
        <p:txBody>
          <a:bodyPr wrap="square" lIns="0" tIns="0" rIns="0" bIns="0" rtlCol="0" anchor="ctr"/>
          <a:lstStyle/>
          <a:p>
            <a:pPr indent="0" marL="0">
              <a:buNone/>
            </a:pPr>
            <a:r>
              <a:rPr lang="en-US" sz="1250" dirty="0">
                <a:solidFill>
                  <a:srgbClr val="5B6B66"/>
                </a:solidFill>
                <a:latin typeface="Arial" pitchFamily="34" charset="0"/>
                <a:ea typeface="Arial" pitchFamily="34" charset="-122"/>
                <a:cs typeface="Arial" pitchFamily="34" charset="-120"/>
              </a:rPr>
              <a:t>points for two letters that agree</a:t>
            </a:r>
            <a:endParaRPr lang="en-US" sz="1250" dirty="0"/>
          </a:p>
        </p:txBody>
      </p:sp>
      <p:sp>
        <p:nvSpPr>
          <p:cNvPr id="12" name="Shape 10"/>
          <p:cNvSpPr/>
          <p:nvPr/>
        </p:nvSpPr>
        <p:spPr>
          <a:xfrm>
            <a:off x="7680960" y="3520440"/>
            <a:ext cx="201168" cy="201168"/>
          </a:xfrm>
          <a:prstGeom prst="ellipse">
            <a:avLst/>
          </a:prstGeom>
          <a:solidFill>
            <a:srgbClr val="D98A26"/>
          </a:solidFill>
          <a:ln/>
        </p:spPr>
      </p:sp>
      <p:sp>
        <p:nvSpPr>
          <p:cNvPr id="13" name="Text 11"/>
          <p:cNvSpPr/>
          <p:nvPr/>
        </p:nvSpPr>
        <p:spPr>
          <a:xfrm>
            <a:off x="8001000" y="3429000"/>
            <a:ext cx="3383280" cy="320040"/>
          </a:xfrm>
          <a:prstGeom prst="rect">
            <a:avLst/>
          </a:prstGeom>
          <a:noFill/>
          <a:ln/>
        </p:spPr>
        <p:txBody>
          <a:bodyPr wrap="square" lIns="0" tIns="0" rIns="0" bIns="0" rtlCol="0" anchor="ctr"/>
          <a:lstStyle/>
          <a:p>
            <a:pPr indent="0" marL="0">
              <a:buNone/>
            </a:pPr>
            <a:r>
              <a:rPr lang="en-US" sz="1500" b="1" dirty="0">
                <a:solidFill>
                  <a:srgbClr val="1A2B28"/>
                </a:solidFill>
                <a:latin typeface="Arial" pitchFamily="34" charset="0"/>
                <a:ea typeface="Arial" pitchFamily="34" charset="-122"/>
                <a:cs typeface="Arial" pitchFamily="34" charset="-120"/>
              </a:rPr>
              <a:t>Mismatch penalty</a:t>
            </a:r>
            <a:endParaRPr lang="en-US" sz="1500" dirty="0"/>
          </a:p>
        </p:txBody>
      </p:sp>
      <p:sp>
        <p:nvSpPr>
          <p:cNvPr id="14" name="Text 12"/>
          <p:cNvSpPr/>
          <p:nvPr/>
        </p:nvSpPr>
        <p:spPr>
          <a:xfrm>
            <a:off x="8001000" y="3749040"/>
            <a:ext cx="3383280" cy="457200"/>
          </a:xfrm>
          <a:prstGeom prst="rect">
            <a:avLst/>
          </a:prstGeom>
          <a:noFill/>
          <a:ln/>
        </p:spPr>
        <p:txBody>
          <a:bodyPr wrap="square" lIns="0" tIns="0" rIns="0" bIns="0" rtlCol="0" anchor="ctr"/>
          <a:lstStyle/>
          <a:p>
            <a:pPr indent="0" marL="0">
              <a:buNone/>
            </a:pPr>
            <a:r>
              <a:rPr lang="en-US" sz="1250" dirty="0">
                <a:solidFill>
                  <a:srgbClr val="5B6B66"/>
                </a:solidFill>
                <a:latin typeface="Arial" pitchFamily="34" charset="0"/>
                <a:ea typeface="Arial" pitchFamily="34" charset="-122"/>
                <a:cs typeface="Arial" pitchFamily="34" charset="-120"/>
              </a:rPr>
              <a:t>points lost when two letters differ</a:t>
            </a:r>
            <a:endParaRPr lang="en-US" sz="1250" dirty="0"/>
          </a:p>
        </p:txBody>
      </p:sp>
      <p:sp>
        <p:nvSpPr>
          <p:cNvPr id="15" name="Shape 13"/>
          <p:cNvSpPr/>
          <p:nvPr/>
        </p:nvSpPr>
        <p:spPr>
          <a:xfrm>
            <a:off x="7680960" y="4480560"/>
            <a:ext cx="201168" cy="201168"/>
          </a:xfrm>
          <a:prstGeom prst="ellipse">
            <a:avLst/>
          </a:prstGeom>
          <a:solidFill>
            <a:srgbClr val="C43D2E"/>
          </a:solidFill>
          <a:ln/>
        </p:spPr>
      </p:sp>
      <p:sp>
        <p:nvSpPr>
          <p:cNvPr id="16" name="Text 14"/>
          <p:cNvSpPr/>
          <p:nvPr/>
        </p:nvSpPr>
        <p:spPr>
          <a:xfrm>
            <a:off x="8001000" y="4389120"/>
            <a:ext cx="3383280" cy="320040"/>
          </a:xfrm>
          <a:prstGeom prst="rect">
            <a:avLst/>
          </a:prstGeom>
          <a:noFill/>
          <a:ln/>
        </p:spPr>
        <p:txBody>
          <a:bodyPr wrap="square" lIns="0" tIns="0" rIns="0" bIns="0" rtlCol="0" anchor="ctr"/>
          <a:lstStyle/>
          <a:p>
            <a:pPr indent="0" marL="0">
              <a:buNone/>
            </a:pPr>
            <a:r>
              <a:rPr lang="en-US" sz="1500" b="1" dirty="0">
                <a:solidFill>
                  <a:srgbClr val="1A2B28"/>
                </a:solidFill>
                <a:latin typeface="Arial" pitchFamily="34" charset="0"/>
                <a:ea typeface="Arial" pitchFamily="34" charset="-122"/>
                <a:cs typeface="Arial" pitchFamily="34" charset="-120"/>
              </a:rPr>
              <a:t>Gap penalty</a:t>
            </a:r>
            <a:endParaRPr lang="en-US" sz="1500" dirty="0"/>
          </a:p>
        </p:txBody>
      </p:sp>
      <p:sp>
        <p:nvSpPr>
          <p:cNvPr id="17" name="Text 15"/>
          <p:cNvSpPr/>
          <p:nvPr/>
        </p:nvSpPr>
        <p:spPr>
          <a:xfrm>
            <a:off x="8001000" y="4709160"/>
            <a:ext cx="3383280" cy="457200"/>
          </a:xfrm>
          <a:prstGeom prst="rect">
            <a:avLst/>
          </a:prstGeom>
          <a:noFill/>
          <a:ln/>
        </p:spPr>
        <p:txBody>
          <a:bodyPr wrap="square" lIns="0" tIns="0" rIns="0" bIns="0" rtlCol="0" anchor="ctr"/>
          <a:lstStyle/>
          <a:p>
            <a:pPr indent="0" marL="0">
              <a:buNone/>
            </a:pPr>
            <a:r>
              <a:rPr lang="en-US" sz="1250" dirty="0">
                <a:solidFill>
                  <a:srgbClr val="5B6B66"/>
                </a:solidFill>
                <a:latin typeface="Arial" pitchFamily="34" charset="0"/>
                <a:ea typeface="Arial" pitchFamily="34" charset="-122"/>
                <a:cs typeface="Arial" pitchFamily="34" charset="-120"/>
              </a:rPr>
              <a:t>points lost for every dash inserted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2E7D46"/>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WHAT I BUILT</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A tunable aligner that runs my own code</a:t>
            </a:r>
            <a:endParaRPr lang="en-US" sz="3000" dirty="0"/>
          </a:p>
        </p:txBody>
      </p:sp>
      <p:sp>
        <p:nvSpPr>
          <p:cNvPr id="5" name="Text 3"/>
          <p:cNvSpPr/>
          <p:nvPr/>
        </p:nvSpPr>
        <p:spPr>
          <a:xfrm>
            <a:off x="548640" y="1828800"/>
            <a:ext cx="6126480" cy="4023360"/>
          </a:xfrm>
          <a:prstGeom prst="rect">
            <a:avLst/>
          </a:prstGeom>
          <a:noFill/>
          <a:ln/>
        </p:spPr>
        <p:txBody>
          <a:bodyPr wrap="square" rtlCol="0" anchor="t"/>
          <a:lstStyle/>
          <a:p>
            <a:pPr marL="342900" indent="-342900">
              <a:spcAft>
                <a:spcPts val="900"/>
              </a:spcAft>
              <a:buSzPct val="100000"/>
              <a:buChar char="•"/>
            </a:pPr>
            <a:r>
              <a:rPr lang="en-US" sz="1600" dirty="0">
                <a:solidFill>
                  <a:srgbClr val="1A2B28"/>
                </a:solidFill>
                <a:latin typeface="Arial" pitchFamily="34" charset="0"/>
                <a:ea typeface="Arial" pitchFamily="34" charset="-122"/>
                <a:cs typeface="Arial" pitchFamily="34" charset="-120"/>
              </a:rPr>
              <a:t>Sliders for match, mismatch, and gap</a:t>
            </a:r>
            <a:endParaRPr lang="en-US" sz="1600" dirty="0"/>
          </a:p>
          <a:p>
            <a:pPr marL="342900" indent="-342900">
              <a:spcAft>
                <a:spcPts val="900"/>
              </a:spcAft>
              <a:buSzPct val="100000"/>
              <a:buChar char="•"/>
            </a:pPr>
            <a:r>
              <a:rPr lang="en-US" sz="1600" dirty="0">
                <a:solidFill>
                  <a:srgbClr val="1A2B28"/>
                </a:solidFill>
                <a:latin typeface="Arial" pitchFamily="34" charset="0"/>
                <a:ea typeface="Arial" pitchFamily="34" charset="-122"/>
                <a:cs typeface="Arial" pitchFamily="34" charset="-120"/>
              </a:rPr>
              <a:t>Switch between global and local alignment</a:t>
            </a:r>
            <a:endParaRPr lang="en-US" sz="1600" dirty="0"/>
          </a:p>
          <a:p>
            <a:pPr marL="342900" indent="-342900">
              <a:spcAft>
                <a:spcPts val="900"/>
              </a:spcAft>
              <a:buSzPct val="100000"/>
              <a:buChar char="•"/>
            </a:pPr>
            <a:r>
              <a:rPr lang="en-US" sz="1600" dirty="0">
                <a:solidFill>
                  <a:srgbClr val="1A2B28"/>
                </a:solidFill>
                <a:latin typeface="Arial" pitchFamily="34" charset="0"/>
                <a:ea typeface="Arial" pitchFamily="34" charset="-122"/>
                <a:cs typeface="Arial" pitchFamily="34" charset="-120"/>
              </a:rPr>
              <a:t>Works on DNA and on protein</a:t>
            </a:r>
            <a:endParaRPr lang="en-US" sz="1600" dirty="0"/>
          </a:p>
          <a:p>
            <a:pPr marL="342900" indent="-342900">
              <a:spcAft>
                <a:spcPts val="900"/>
              </a:spcAft>
              <a:buSzPct val="100000"/>
              <a:buChar char="•"/>
            </a:pPr>
            <a:r>
              <a:rPr lang="en-US" sz="1600" dirty="0">
                <a:solidFill>
                  <a:srgbClr val="1A2B28"/>
                </a:solidFill>
                <a:latin typeface="Arial" pitchFamily="34" charset="0"/>
                <a:ea typeface="Arial" pitchFamily="34" charset="-122"/>
                <a:cs typeface="Arial" pitchFamily="34" charset="-120"/>
              </a:rPr>
              <a:t>Protein scoring matrices: BLOSUM62 and PAM250</a:t>
            </a:r>
            <a:endParaRPr lang="en-US" sz="1600" dirty="0"/>
          </a:p>
          <a:p>
            <a:pPr marL="342900" indent="-342900">
              <a:spcAft>
                <a:spcPts val="900"/>
              </a:spcAft>
              <a:buSzPct val="100000"/>
              <a:buChar char="•"/>
            </a:pPr>
            <a:r>
              <a:rPr lang="en-US" sz="1600" dirty="0">
                <a:solidFill>
                  <a:srgbClr val="1A2B28"/>
                </a:solidFill>
                <a:latin typeface="Arial" pitchFamily="34" charset="0"/>
                <a:ea typeface="Arial" pitchFamily="34" charset="-122"/>
                <a:cs typeface="Arial" pitchFamily="34" charset="-120"/>
              </a:rPr>
              <a:t>Reads out the alignment, score, percent identity, and gaps</a:t>
            </a:r>
            <a:endParaRPr lang="en-US" sz="1600" dirty="0"/>
          </a:p>
          <a:p>
            <a:pPr marL="342900" indent="-342900">
              <a:spcAft>
                <a:spcPts val="900"/>
              </a:spcAft>
              <a:buSzPct val="100000"/>
              <a:buChar char="•"/>
            </a:pPr>
            <a:r>
              <a:rPr lang="en-US" sz="1600" dirty="0">
                <a:solidFill>
                  <a:srgbClr val="1A2B28"/>
                </a:solidFill>
                <a:latin typeface="Arial" pitchFamily="34" charset="0"/>
                <a:ea typeface="Arial" pitchFamily="34" charset="-122"/>
                <a:cs typeface="Arial" pitchFamily="34" charset="-120"/>
              </a:rPr>
              <a:t>Redraws live as you move the sliders</a:t>
            </a:r>
            <a:endParaRPr lang="en-US" sz="1600" dirty="0"/>
          </a:p>
        </p:txBody>
      </p:sp>
      <p:sp>
        <p:nvSpPr>
          <p:cNvPr id="6" name="Shape 4"/>
          <p:cNvSpPr/>
          <p:nvPr/>
        </p:nvSpPr>
        <p:spPr>
          <a:xfrm>
            <a:off x="7040880" y="1783080"/>
            <a:ext cx="4572000" cy="4114800"/>
          </a:xfrm>
          <a:prstGeom prst="roundRect">
            <a:avLst>
              <a:gd name="adj" fmla="val 1778"/>
            </a:avLst>
          </a:prstGeom>
          <a:solidFill>
            <a:srgbClr val="FFFFFF"/>
          </a:solidFill>
          <a:ln w="12700">
            <a:solidFill>
              <a:srgbClr val="D9E2DD"/>
            </a:solidFill>
            <a:prstDash val="solid"/>
          </a:ln>
          <a:effectLst>
            <a:outerShdw sx="100000" sy="100000" kx="0" ky="0" algn="bl" rotWithShape="0" blurRad="88900" dist="38100" dir="5400000">
              <a:srgbClr val="000000">
                <a:alpha val="10000"/>
              </a:srgbClr>
            </a:outerShdw>
          </a:effectLst>
        </p:spPr>
      </p:sp>
      <p:pic>
        <p:nvPicPr>
          <p:cNvPr id="7" name="Image 0" descr="blosum62_heatmap.png">    </p:cNvPr>
          <p:cNvPicPr>
            <a:picLocks noChangeAspect="1"/>
          </p:cNvPicPr>
          <p:nvPr/>
        </p:nvPicPr>
        <p:blipFill>
          <a:blip r:embed="rId1"/>
          <a:srcRect l="-10256" r="-10256" t="0" b="0"/>
          <a:stretch/>
        </p:blipFill>
        <p:spPr>
          <a:xfrm>
            <a:off x="7178040" y="1920240"/>
            <a:ext cx="4297680" cy="3566160"/>
          </a:xfrm>
          <a:prstGeom prst="rect">
            <a:avLst/>
          </a:prstGeom>
        </p:spPr>
      </p:pic>
      <p:sp>
        <p:nvSpPr>
          <p:cNvPr id="8" name="Text 5"/>
          <p:cNvSpPr/>
          <p:nvPr/>
        </p:nvSpPr>
        <p:spPr>
          <a:xfrm>
            <a:off x="7132320" y="5486400"/>
            <a:ext cx="4389120" cy="365760"/>
          </a:xfrm>
          <a:prstGeom prst="rect">
            <a:avLst/>
          </a:prstGeom>
          <a:noFill/>
          <a:ln/>
        </p:spPr>
        <p:txBody>
          <a:bodyPr wrap="square" lIns="0" tIns="0" rIns="0" bIns="0" rtlCol="0" anchor="ctr"/>
          <a:lstStyle/>
          <a:p>
            <a:pPr algn="ctr" indent="0" marL="0">
              <a:buNone/>
            </a:pPr>
            <a:r>
              <a:rPr lang="en-US" sz="1150" dirty="0">
                <a:solidFill>
                  <a:srgbClr val="5B6B66"/>
                </a:solidFill>
                <a:latin typeface="Arial" pitchFamily="34" charset="0"/>
                <a:ea typeface="Arial" pitchFamily="34" charset="-122"/>
                <a:cs typeface="Arial" pitchFamily="34" charset="-120"/>
              </a:rPr>
              <a:t>BLOSUM62, the protein scoring matrix the app uses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2E7D46"/>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HOW IT WORKS</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The aligner fills a grid, then walks back</a:t>
            </a:r>
            <a:endParaRPr lang="en-US" sz="3000" dirty="0"/>
          </a:p>
        </p:txBody>
      </p:sp>
      <p:pic>
        <p:nvPicPr>
          <p:cNvPr id="5" name="Image 0" descr="figures/fig7_dp_grid.png">    </p:cNvPr>
          <p:cNvPicPr>
            <a:picLocks noChangeAspect="1"/>
          </p:cNvPicPr>
          <p:nvPr/>
        </p:nvPicPr>
        <p:blipFill>
          <a:blip r:embed="rId1"/>
          <a:stretch>
            <a:fillRect/>
          </a:stretch>
        </p:blipFill>
        <p:spPr>
          <a:xfrm>
            <a:off x="457200" y="1828800"/>
            <a:ext cx="3566160" cy="3726395"/>
          </a:xfrm>
          <a:prstGeom prst="rect">
            <a:avLst/>
          </a:prstGeom>
        </p:spPr>
      </p:pic>
      <p:pic>
        <p:nvPicPr>
          <p:cNvPr id="6" name="Image 1" descr="figures/fig9_dotplot.png">    </p:cNvPr>
          <p:cNvPicPr>
            <a:picLocks noChangeAspect="1"/>
          </p:cNvPicPr>
          <p:nvPr/>
        </p:nvPicPr>
        <p:blipFill>
          <a:blip r:embed="rId2"/>
          <a:stretch>
            <a:fillRect/>
          </a:stretch>
        </p:blipFill>
        <p:spPr>
          <a:xfrm>
            <a:off x="4160520" y="1828800"/>
            <a:ext cx="3566160" cy="3566160"/>
          </a:xfrm>
          <a:prstGeom prst="rect">
            <a:avLst/>
          </a:prstGeom>
        </p:spPr>
      </p:pic>
      <p:sp>
        <p:nvSpPr>
          <p:cNvPr id="7" name="Shape 3"/>
          <p:cNvSpPr/>
          <p:nvPr/>
        </p:nvSpPr>
        <p:spPr>
          <a:xfrm>
            <a:off x="7955280" y="1828800"/>
            <a:ext cx="3749040" cy="3721608"/>
          </a:xfrm>
          <a:prstGeom prst="roundRect">
            <a:avLst>
              <a:gd name="adj" fmla="val 1966"/>
            </a:avLst>
          </a:prstGeom>
          <a:solidFill>
            <a:srgbClr val="F2F5F3"/>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8" name="Text 4"/>
          <p:cNvSpPr/>
          <p:nvPr/>
        </p:nvSpPr>
        <p:spPr>
          <a:xfrm>
            <a:off x="8183880" y="2057400"/>
            <a:ext cx="3291840" cy="3291840"/>
          </a:xfrm>
          <a:prstGeom prst="rect">
            <a:avLst/>
          </a:prstGeom>
          <a:noFill/>
          <a:ln/>
        </p:spPr>
        <p:txBody>
          <a:bodyPr wrap="square" rtlCol="0" anchor="t"/>
          <a:lstStyle/>
          <a:p>
            <a:pPr indent="0" marL="0">
              <a:buNone/>
            </a:pPr>
            <a:r>
              <a:rPr lang="en-US" sz="1350" b="1" dirty="0">
                <a:solidFill>
                  <a:srgbClr val="1A2B28"/>
                </a:solidFill>
                <a:latin typeface="Arial" pitchFamily="34" charset="0"/>
                <a:ea typeface="Arial" pitchFamily="34" charset="-122"/>
                <a:cs typeface="Arial" pitchFamily="34" charset="-120"/>
              </a:rPr>
              <a:t>Left: the scoring grid. </a:t>
            </a:r>
            <a:pPr indent="0" marL="0">
              <a:spcAft>
                <a:spcPts val="1200"/>
              </a:spcAft>
              <a:buNone/>
            </a:pPr>
            <a:r>
              <a:rPr lang="en-US" sz="1350" dirty="0">
                <a:solidFill>
                  <a:srgbClr val="1A2B28"/>
                </a:solidFill>
                <a:latin typeface="Arial" pitchFamily="34" charset="0"/>
                <a:ea typeface="Arial" pitchFamily="34" charset="-122"/>
                <a:cs typeface="Arial" pitchFamily="34" charset="-120"/>
              </a:rPr>
              <a:t>Each box holds the best score for lining up everything up to that point. The red path back through it is the alignment.</a:t>
            </a:r>
            <a:endParaRPr lang="en-US" sz="1350" dirty="0"/>
          </a:p>
          <a:p>
            <a:pPr indent="0" marL="0">
              <a:buNone/>
            </a:pPr>
            <a:r>
              <a:rPr lang="en-US" sz="1350" b="1" dirty="0">
                <a:solidFill>
                  <a:srgbClr val="1A2B28"/>
                </a:solidFill>
                <a:latin typeface="Arial" pitchFamily="34" charset="0"/>
                <a:ea typeface="Arial" pitchFamily="34" charset="-122"/>
                <a:cs typeface="Arial" pitchFamily="34" charset="-120"/>
              </a:rPr>
              <a:t>Right: a dot plot. </a:t>
            </a:r>
            <a:pPr indent="0" marL="0">
              <a:buNone/>
            </a:pPr>
            <a:r>
              <a:rPr lang="en-US" sz="1350" dirty="0">
                <a:solidFill>
                  <a:srgbClr val="1A2B28"/>
                </a:solidFill>
                <a:latin typeface="Arial" pitchFamily="34" charset="0"/>
                <a:ea typeface="Arial" pitchFamily="34" charset="-122"/>
                <a:cs typeface="Arial" pitchFamily="34" charset="-120"/>
              </a:rPr>
              <a:t>A dot marks every spot where the two sequences share a short piece. Related sequences make a diagonal line, and breaks in it are insertions or deletions.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C43D2E"/>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GOOD VS BAD PARAMETERS</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A toy example makes it obvious</a:t>
            </a:r>
            <a:endParaRPr lang="en-US" sz="3000" dirty="0"/>
          </a:p>
        </p:txBody>
      </p:sp>
      <p:pic>
        <p:nvPicPr>
          <p:cNvPr id="5" name="Image 0" descr="figures/fig1_toy_good_bad.png">    </p:cNvPr>
          <p:cNvPicPr>
            <a:picLocks noChangeAspect="1"/>
          </p:cNvPicPr>
          <p:nvPr/>
        </p:nvPicPr>
        <p:blipFill>
          <a:blip r:embed="rId1"/>
          <a:srcRect l="-113514" r="-113514" t="0" b="0"/>
          <a:stretch/>
        </p:blipFill>
        <p:spPr>
          <a:xfrm>
            <a:off x="548640" y="1691640"/>
            <a:ext cx="11064240" cy="3383280"/>
          </a:xfrm>
          <a:prstGeom prst="rect">
            <a:avLst/>
          </a:prstGeom>
        </p:spPr>
      </p:pic>
      <p:sp>
        <p:nvSpPr>
          <p:cNvPr id="6" name="Shape 3"/>
          <p:cNvSpPr/>
          <p:nvPr/>
        </p:nvSpPr>
        <p:spPr>
          <a:xfrm>
            <a:off x="548640" y="5394960"/>
            <a:ext cx="11064240" cy="1051560"/>
          </a:xfrm>
          <a:prstGeom prst="roundRect">
            <a:avLst>
              <a:gd name="adj" fmla="val 6957"/>
            </a:avLst>
          </a:prstGeom>
          <a:solidFill>
            <a:srgbClr val="FBEDEB"/>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7" name="Text 4"/>
          <p:cNvSpPr/>
          <p:nvPr/>
        </p:nvSpPr>
        <p:spPr>
          <a:xfrm>
            <a:off x="777240" y="5532120"/>
            <a:ext cx="10607040" cy="777240"/>
          </a:xfrm>
          <a:prstGeom prst="rect">
            <a:avLst/>
          </a:prstGeom>
          <a:noFill/>
          <a:ln/>
        </p:spPr>
        <p:txBody>
          <a:bodyPr wrap="square" rtlCol="0" anchor="ctr"/>
          <a:lstStyle/>
          <a:p>
            <a:pPr indent="0" marL="0">
              <a:buNone/>
            </a:pPr>
            <a:r>
              <a:rPr lang="en-US" sz="1500" dirty="0">
                <a:solidFill>
                  <a:srgbClr val="1A2B28"/>
                </a:solidFill>
                <a:latin typeface="Arial" pitchFamily="34" charset="0"/>
                <a:ea typeface="Arial" pitchFamily="34" charset="-122"/>
                <a:cs typeface="Arial" pitchFamily="34" charset="-120"/>
              </a:rPr>
              <a:t>The bad settings score almost 6 times higher and reach 100 percent identity, but they are wrong. </a:t>
            </a:r>
            <a:pPr indent="0" marL="0">
              <a:buNone/>
            </a:pPr>
            <a:r>
              <a:rPr lang="en-US" sz="1500" b="1" dirty="0">
                <a:solidFill>
                  <a:srgbClr val="C43D2E"/>
                </a:solidFill>
                <a:latin typeface="Arial" pitchFamily="34" charset="0"/>
                <a:ea typeface="Arial" pitchFamily="34" charset="-122"/>
                <a:cs typeface="Arial" pitchFamily="34" charset="-120"/>
              </a:rPr>
              <a:t>Only biology tells them apart: one clean insertion is believable, five scattered gaps are not.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C43D2E"/>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GOOD VS BAD PARAMETERS</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The same trap on a real gene (hemoglobin beta)</a:t>
            </a:r>
            <a:endParaRPr lang="en-US" sz="3000" dirty="0"/>
          </a:p>
        </p:txBody>
      </p:sp>
      <p:pic>
        <p:nvPicPr>
          <p:cNvPr id="5" name="Image 0" descr="figures/fig2_hbb_good_bad.png">    </p:cNvPr>
          <p:cNvPicPr>
            <a:picLocks noChangeAspect="1"/>
          </p:cNvPicPr>
          <p:nvPr/>
        </p:nvPicPr>
        <p:blipFill>
          <a:blip r:embed="rId1"/>
          <a:stretch>
            <a:fillRect/>
          </a:stretch>
        </p:blipFill>
        <p:spPr>
          <a:xfrm>
            <a:off x="548640" y="1783080"/>
            <a:ext cx="7863840" cy="2929896"/>
          </a:xfrm>
          <a:prstGeom prst="rect">
            <a:avLst/>
          </a:prstGeom>
        </p:spPr>
      </p:pic>
      <p:sp>
        <p:nvSpPr>
          <p:cNvPr id="6" name="Shape 3"/>
          <p:cNvSpPr/>
          <p:nvPr/>
        </p:nvSpPr>
        <p:spPr>
          <a:xfrm>
            <a:off x="8595360" y="1783080"/>
            <a:ext cx="3017520" cy="2929896"/>
          </a:xfrm>
          <a:prstGeom prst="roundRect">
            <a:avLst>
              <a:gd name="adj" fmla="val 2497"/>
            </a:avLst>
          </a:prstGeom>
          <a:solidFill>
            <a:srgbClr val="F2F5F3"/>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7" name="Text 4"/>
          <p:cNvSpPr/>
          <p:nvPr/>
        </p:nvSpPr>
        <p:spPr>
          <a:xfrm>
            <a:off x="8796528" y="1938528"/>
            <a:ext cx="2615184" cy="2609856"/>
          </a:xfrm>
          <a:prstGeom prst="rect">
            <a:avLst/>
          </a:prstGeom>
          <a:noFill/>
          <a:ln/>
        </p:spPr>
        <p:txBody>
          <a:bodyPr wrap="square" rtlCol="0" anchor="t"/>
          <a:lstStyle/>
          <a:p>
            <a:pPr indent="0" marL="0">
              <a:buNone/>
            </a:pPr>
            <a:r>
              <a:rPr lang="en-US" sz="1400" dirty="0">
                <a:solidFill>
                  <a:srgbClr val="1A2B28"/>
                </a:solidFill>
                <a:latin typeface="Arial" pitchFamily="34" charset="0"/>
                <a:ea typeface="Arial" pitchFamily="34" charset="-122"/>
                <a:cs typeface="Arial" pitchFamily="34" charset="-120"/>
              </a:rPr>
              <a:t>Here both the score and the identity go up for the bad settings. The giveaway is the gap structure. 29 separate insert or delete events in one small protein is not believable.</a:t>
            </a:r>
            <a:endParaRPr lang="en-US" sz="1400" dirty="0"/>
          </a:p>
        </p:txBody>
      </p:sp>
      <p:sp>
        <p:nvSpPr>
          <p:cNvPr id="8" name="Shape 5"/>
          <p:cNvSpPr/>
          <p:nvPr/>
        </p:nvSpPr>
        <p:spPr>
          <a:xfrm>
            <a:off x="548640" y="5074920"/>
            <a:ext cx="3566160" cy="1234440"/>
          </a:xfrm>
          <a:prstGeom prst="roundRect">
            <a:avLst>
              <a:gd name="adj" fmla="val 5926"/>
            </a:avLst>
          </a:prstGeom>
          <a:solidFill>
            <a:srgbClr val="FFFFFF"/>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9" name="Text 6"/>
          <p:cNvSpPr/>
          <p:nvPr/>
        </p:nvSpPr>
        <p:spPr>
          <a:xfrm>
            <a:off x="749808" y="5193792"/>
            <a:ext cx="3200400" cy="320040"/>
          </a:xfrm>
          <a:prstGeom prst="rect">
            <a:avLst/>
          </a:prstGeom>
          <a:noFill/>
          <a:ln/>
        </p:spPr>
        <p:txBody>
          <a:bodyPr wrap="square" lIns="0" tIns="0" rIns="0" bIns="0" rtlCol="0" anchor="ctr"/>
          <a:lstStyle/>
          <a:p>
            <a:pPr indent="0" marL="0">
              <a:buNone/>
            </a:pPr>
            <a:r>
              <a:rPr lang="en-US" sz="1250" dirty="0">
                <a:solidFill>
                  <a:srgbClr val="5B6B66"/>
                </a:solidFill>
                <a:latin typeface="Arial" pitchFamily="34" charset="0"/>
                <a:ea typeface="Arial" pitchFamily="34" charset="-122"/>
                <a:cs typeface="Arial" pitchFamily="34" charset="-120"/>
              </a:rPr>
              <a:t>raw score</a:t>
            </a:r>
            <a:endParaRPr lang="en-US" sz="1250" dirty="0"/>
          </a:p>
        </p:txBody>
      </p:sp>
      <p:sp>
        <p:nvSpPr>
          <p:cNvPr id="10" name="Text 7"/>
          <p:cNvSpPr/>
          <p:nvPr/>
        </p:nvSpPr>
        <p:spPr>
          <a:xfrm>
            <a:off x="749808" y="5504688"/>
            <a:ext cx="3200400" cy="640080"/>
          </a:xfrm>
          <a:prstGeom prst="rect">
            <a:avLst/>
          </a:prstGeom>
          <a:noFill/>
          <a:ln/>
        </p:spPr>
        <p:txBody>
          <a:bodyPr wrap="square" lIns="0" tIns="0" rIns="0" bIns="0" rtlCol="0" anchor="ctr"/>
          <a:lstStyle/>
          <a:p>
            <a:pPr indent="0" marL="0">
              <a:buNone/>
            </a:pPr>
            <a:r>
              <a:rPr lang="en-US" sz="2600" dirty="0">
                <a:solidFill>
                  <a:srgbClr val="5B6B66"/>
                </a:solidFill>
                <a:latin typeface="Cambria" pitchFamily="34" charset="0"/>
                <a:ea typeface="Cambria" pitchFamily="34" charset="-122"/>
                <a:cs typeface="Cambria" pitchFamily="34" charset="-120"/>
              </a:rPr>
              <a:t>419  </a:t>
            </a:r>
            <a:pPr indent="0" marL="0">
              <a:buNone/>
            </a:pPr>
            <a:r>
              <a:rPr lang="en-US" sz="2600" b="1" dirty="0">
                <a:solidFill>
                  <a:srgbClr val="C43D2E"/>
                </a:solidFill>
                <a:latin typeface="Cambria" pitchFamily="34" charset="0"/>
                <a:ea typeface="Cambria" pitchFamily="34" charset="-122"/>
                <a:cs typeface="Cambria" pitchFamily="34" charset="-120"/>
              </a:rPr>
              <a:t>→ 497</a:t>
            </a:r>
            <a:endParaRPr lang="en-US" sz="2600" dirty="0"/>
          </a:p>
        </p:txBody>
      </p:sp>
      <p:sp>
        <p:nvSpPr>
          <p:cNvPr id="11" name="Shape 8"/>
          <p:cNvSpPr/>
          <p:nvPr/>
        </p:nvSpPr>
        <p:spPr>
          <a:xfrm>
            <a:off x="4343400" y="5074920"/>
            <a:ext cx="3566160" cy="1234440"/>
          </a:xfrm>
          <a:prstGeom prst="roundRect">
            <a:avLst>
              <a:gd name="adj" fmla="val 5926"/>
            </a:avLst>
          </a:prstGeom>
          <a:solidFill>
            <a:srgbClr val="FFFFFF"/>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12" name="Text 9"/>
          <p:cNvSpPr/>
          <p:nvPr/>
        </p:nvSpPr>
        <p:spPr>
          <a:xfrm>
            <a:off x="4544568" y="5193792"/>
            <a:ext cx="3200400" cy="320040"/>
          </a:xfrm>
          <a:prstGeom prst="rect">
            <a:avLst/>
          </a:prstGeom>
          <a:noFill/>
          <a:ln/>
        </p:spPr>
        <p:txBody>
          <a:bodyPr wrap="square" lIns="0" tIns="0" rIns="0" bIns="0" rtlCol="0" anchor="ctr"/>
          <a:lstStyle/>
          <a:p>
            <a:pPr indent="0" marL="0">
              <a:buNone/>
            </a:pPr>
            <a:r>
              <a:rPr lang="en-US" sz="1250" dirty="0">
                <a:solidFill>
                  <a:srgbClr val="5B6B66"/>
                </a:solidFill>
                <a:latin typeface="Arial" pitchFamily="34" charset="0"/>
                <a:ea typeface="Arial" pitchFamily="34" charset="-122"/>
                <a:cs typeface="Arial" pitchFamily="34" charset="-120"/>
              </a:rPr>
              <a:t>separate gap runs</a:t>
            </a:r>
            <a:endParaRPr lang="en-US" sz="1250" dirty="0"/>
          </a:p>
        </p:txBody>
      </p:sp>
      <p:sp>
        <p:nvSpPr>
          <p:cNvPr id="13" name="Text 10"/>
          <p:cNvSpPr/>
          <p:nvPr/>
        </p:nvSpPr>
        <p:spPr>
          <a:xfrm>
            <a:off x="4544568" y="5504688"/>
            <a:ext cx="3200400" cy="640080"/>
          </a:xfrm>
          <a:prstGeom prst="rect">
            <a:avLst/>
          </a:prstGeom>
          <a:noFill/>
          <a:ln/>
        </p:spPr>
        <p:txBody>
          <a:bodyPr wrap="square" lIns="0" tIns="0" rIns="0" bIns="0" rtlCol="0" anchor="ctr"/>
          <a:lstStyle/>
          <a:p>
            <a:pPr indent="0" marL="0">
              <a:buNone/>
            </a:pPr>
            <a:r>
              <a:rPr lang="en-US" sz="2600" dirty="0">
                <a:solidFill>
                  <a:srgbClr val="5B6B66"/>
                </a:solidFill>
                <a:latin typeface="Cambria" pitchFamily="34" charset="0"/>
                <a:ea typeface="Cambria" pitchFamily="34" charset="-122"/>
                <a:cs typeface="Cambria" pitchFamily="34" charset="-120"/>
              </a:rPr>
              <a:t>1  </a:t>
            </a:r>
            <a:pPr indent="0" marL="0">
              <a:buNone/>
            </a:pPr>
            <a:r>
              <a:rPr lang="en-US" sz="2600" b="1" dirty="0">
                <a:solidFill>
                  <a:srgbClr val="C43D2E"/>
                </a:solidFill>
                <a:latin typeface="Cambria" pitchFamily="34" charset="0"/>
                <a:ea typeface="Cambria" pitchFamily="34" charset="-122"/>
                <a:cs typeface="Cambria" pitchFamily="34" charset="-120"/>
              </a:rPr>
              <a:t>→ 29</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2E7D46"/>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DNA VS PROTEIN</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Why some mutations hide</a:t>
            </a:r>
            <a:endParaRPr lang="en-US" sz="3000" dirty="0"/>
          </a:p>
        </p:txBody>
      </p:sp>
      <p:pic>
        <p:nvPicPr>
          <p:cNvPr id="5" name="Image 0" descr="figures/fig3_sars_codons.png">    </p:cNvPr>
          <p:cNvPicPr>
            <a:picLocks noChangeAspect="1"/>
          </p:cNvPicPr>
          <p:nvPr/>
        </p:nvPicPr>
        <p:blipFill>
          <a:blip r:embed="rId1"/>
          <a:stretch>
            <a:fillRect/>
          </a:stretch>
        </p:blipFill>
        <p:spPr>
          <a:xfrm>
            <a:off x="548640" y="1783080"/>
            <a:ext cx="7466076" cy="4206240"/>
          </a:xfrm>
          <a:prstGeom prst="rect">
            <a:avLst/>
          </a:prstGeom>
        </p:spPr>
      </p:pic>
      <p:sp>
        <p:nvSpPr>
          <p:cNvPr id="6" name="Shape 3"/>
          <p:cNvSpPr/>
          <p:nvPr/>
        </p:nvSpPr>
        <p:spPr>
          <a:xfrm>
            <a:off x="8321040" y="1783080"/>
            <a:ext cx="3291840" cy="4206240"/>
          </a:xfrm>
          <a:prstGeom prst="roundRect">
            <a:avLst>
              <a:gd name="adj" fmla="val 2222"/>
            </a:avLst>
          </a:prstGeom>
          <a:solidFill>
            <a:srgbClr val="F2F5F3"/>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7" name="Text 4"/>
          <p:cNvSpPr/>
          <p:nvPr/>
        </p:nvSpPr>
        <p:spPr>
          <a:xfrm>
            <a:off x="8549640" y="1965960"/>
            <a:ext cx="2834640" cy="640080"/>
          </a:xfrm>
          <a:prstGeom prst="rect">
            <a:avLst/>
          </a:prstGeom>
          <a:noFill/>
          <a:ln/>
        </p:spPr>
        <p:txBody>
          <a:bodyPr wrap="square" lIns="0" tIns="0" rIns="0" bIns="0" rtlCol="0" anchor="ctr"/>
          <a:lstStyle/>
          <a:p>
            <a:pPr indent="0" marL="0">
              <a:buNone/>
            </a:pPr>
            <a:r>
              <a:rPr lang="en-US" sz="1600" b="1" dirty="0">
                <a:solidFill>
                  <a:srgbClr val="1A2B28"/>
                </a:solidFill>
                <a:latin typeface="Cambria" pitchFamily="34" charset="0"/>
                <a:ea typeface="Cambria" pitchFamily="34" charset="-122"/>
                <a:cs typeface="Cambria" pitchFamily="34" charset="-120"/>
              </a:rPr>
              <a:t>SARS-CoV vs SARS-CoV-2 spike</a:t>
            </a:r>
            <a:endParaRPr lang="en-US" sz="1600" dirty="0"/>
          </a:p>
        </p:txBody>
      </p:sp>
      <p:sp>
        <p:nvSpPr>
          <p:cNvPr id="8" name="Text 5"/>
          <p:cNvSpPr/>
          <p:nvPr/>
        </p:nvSpPr>
        <p:spPr>
          <a:xfrm>
            <a:off x="8549640" y="2743200"/>
            <a:ext cx="2834640" cy="3108960"/>
          </a:xfrm>
          <a:prstGeom prst="rect">
            <a:avLst/>
          </a:prstGeom>
          <a:noFill/>
          <a:ln/>
        </p:spPr>
        <p:txBody>
          <a:bodyPr wrap="square" rtlCol="0" anchor="t"/>
          <a:lstStyle/>
          <a:p>
            <a:pPr indent="0" marL="0">
              <a:spcAft>
                <a:spcPts val="1000"/>
              </a:spcAft>
              <a:buNone/>
            </a:pPr>
            <a:r>
              <a:rPr lang="en-US" sz="1400" dirty="0">
                <a:solidFill>
                  <a:srgbClr val="1A2B28"/>
                </a:solidFill>
                <a:latin typeface="Arial" pitchFamily="34" charset="0"/>
                <a:ea typeface="Arial" pitchFamily="34" charset="-122"/>
                <a:cs typeface="Arial" pitchFamily="34" charset="-120"/>
              </a:rPr>
              <a:t>I aligned the spike gene as DNA, then as the protein it codes for.</a:t>
            </a:r>
            <a:endParaRPr lang="en-US" sz="1400" dirty="0"/>
          </a:p>
          <a:p>
            <a:pPr indent="0" marL="0">
              <a:spcAft>
                <a:spcPts val="1000"/>
              </a:spcAft>
              <a:buNone/>
            </a:pPr>
            <a:r>
              <a:rPr lang="en-US" sz="1400" b="1" dirty="0">
                <a:solidFill>
                  <a:srgbClr val="2E7D46"/>
                </a:solidFill>
                <a:latin typeface="Arial" pitchFamily="34" charset="0"/>
                <a:ea typeface="Arial" pitchFamily="34" charset="-122"/>
                <a:cs typeface="Arial" pitchFamily="34" charset="-120"/>
              </a:rPr>
              <a:t>438 of the 713 DNA changes are synonymous. They change the DNA but not the protein.</a:t>
            </a:r>
            <a:endParaRPr lang="en-US" sz="1400" dirty="0"/>
          </a:p>
          <a:p>
            <a:pPr indent="0" marL="0">
              <a:buNone/>
            </a:pPr>
            <a:r>
              <a:rPr lang="en-US" sz="1400" dirty="0">
                <a:solidFill>
                  <a:srgbClr val="1A2B28"/>
                </a:solidFill>
                <a:latin typeface="Arial" pitchFamily="34" charset="0"/>
                <a:ea typeface="Arial" pitchFamily="34" charset="-122"/>
                <a:cs typeface="Arial" pitchFamily="34" charset="-120"/>
              </a:rPr>
              <a:t>The mutations that matter are the 275 that change the amino acid.</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C43D2E"/>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STRETCH: SEEING IT IN 3D</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Where the changes land on the real spike</a:t>
            </a:r>
            <a:endParaRPr lang="en-US" sz="3000" dirty="0"/>
          </a:p>
        </p:txBody>
      </p:sp>
      <p:pic>
        <p:nvPicPr>
          <p:cNvPr id="5" name="Image 0" descr="figures/fig6_spike_3d.png">    </p:cNvPr>
          <p:cNvPicPr>
            <a:picLocks noChangeAspect="1"/>
          </p:cNvPicPr>
          <p:nvPr/>
        </p:nvPicPr>
        <p:blipFill>
          <a:blip r:embed="rId1"/>
          <a:stretch>
            <a:fillRect/>
          </a:stretch>
        </p:blipFill>
        <p:spPr>
          <a:xfrm>
            <a:off x="2331720" y="1554480"/>
            <a:ext cx="7498080" cy="4138013"/>
          </a:xfrm>
          <a:prstGeom prst="rect">
            <a:avLst/>
          </a:prstGeom>
        </p:spPr>
      </p:pic>
      <p:sp>
        <p:nvSpPr>
          <p:cNvPr id="6" name="Shape 3"/>
          <p:cNvSpPr/>
          <p:nvPr/>
        </p:nvSpPr>
        <p:spPr>
          <a:xfrm>
            <a:off x="548640" y="5623560"/>
            <a:ext cx="11064240" cy="960120"/>
          </a:xfrm>
          <a:prstGeom prst="roundRect">
            <a:avLst>
              <a:gd name="adj" fmla="val 7619"/>
            </a:avLst>
          </a:prstGeom>
          <a:solidFill>
            <a:srgbClr val="F2F5F3"/>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7" name="Text 4"/>
          <p:cNvSpPr/>
          <p:nvPr/>
        </p:nvSpPr>
        <p:spPr>
          <a:xfrm>
            <a:off x="777240" y="5742432"/>
            <a:ext cx="10607040" cy="731520"/>
          </a:xfrm>
          <a:prstGeom prst="rect">
            <a:avLst/>
          </a:prstGeom>
          <a:noFill/>
          <a:ln/>
        </p:spPr>
        <p:txBody>
          <a:bodyPr wrap="square" rtlCol="0" anchor="ctr"/>
          <a:lstStyle/>
          <a:p>
            <a:pPr indent="0" marL="0">
              <a:buNone/>
            </a:pPr>
            <a:r>
              <a:rPr lang="en-US" sz="1350" dirty="0">
                <a:solidFill>
                  <a:srgbClr val="1A2B28"/>
                </a:solidFill>
                <a:latin typeface="Arial" pitchFamily="34" charset="0"/>
                <a:ea typeface="Arial" pitchFamily="34" charset="-122"/>
                <a:cs typeface="Arial" pitchFamily="34" charset="-120"/>
              </a:rPr>
              <a:t>The same 297 changed amino acids (red) drawn on the real spike structure. Most of it is gray and conserved. </a:t>
            </a:r>
            <a:pPr indent="0" marL="0">
              <a:buNone/>
            </a:pPr>
            <a:r>
              <a:rPr lang="en-US" sz="1350" b="1" dirty="0">
                <a:solidFill>
                  <a:srgbClr val="2E7D46"/>
                </a:solidFill>
                <a:latin typeface="Arial" pitchFamily="34" charset="0"/>
                <a:ea typeface="Arial" pitchFamily="34" charset="-122"/>
                <a:cs typeface="Arial" pitchFamily="34" charset="-120"/>
              </a:rPr>
              <a:t>The red clusters at the head, the part that grabs human cells and that antibodies target. </a:t>
            </a:r>
            <a:pPr indent="0" marL="0">
              <a:buNone/>
            </a:pPr>
            <a:r>
              <a:rPr lang="en-US" sz="1350" i="1" dirty="0">
                <a:solidFill>
                  <a:srgbClr val="5B6B66"/>
                </a:solidFill>
                <a:latin typeface="Arial" pitchFamily="34" charset="0"/>
                <a:ea typeface="Arial" pitchFamily="34" charset="-122"/>
                <a:cs typeface="Arial" pitchFamily="34" charset="-120"/>
              </a:rPr>
              <a:t>The notebook has this as a picture and as a viewer you can rotate.</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2E7D46"/>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THE SARS CHANGES</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Two more views along the sequence</a:t>
            </a:r>
            <a:endParaRPr lang="en-US" sz="3000" dirty="0"/>
          </a:p>
        </p:txBody>
      </p:sp>
      <p:pic>
        <p:nvPicPr>
          <p:cNvPr id="5" name="Image 0" descr="figures/fig4_spike_domains.png">    </p:cNvPr>
          <p:cNvPicPr>
            <a:picLocks noChangeAspect="1"/>
          </p:cNvPicPr>
          <p:nvPr/>
        </p:nvPicPr>
        <p:blipFill>
          <a:blip r:embed="rId1"/>
          <a:stretch>
            <a:fillRect/>
          </a:stretch>
        </p:blipFill>
        <p:spPr>
          <a:xfrm>
            <a:off x="594360" y="1691640"/>
            <a:ext cx="10972800" cy="2463030"/>
          </a:xfrm>
          <a:prstGeom prst="rect">
            <a:avLst/>
          </a:prstGeom>
        </p:spPr>
      </p:pic>
      <p:pic>
        <p:nvPicPr>
          <p:cNvPr id="6" name="Image 1" descr="figures/fig10_conservation_line.png">    </p:cNvPr>
          <p:cNvPicPr>
            <a:picLocks noChangeAspect="1"/>
          </p:cNvPicPr>
          <p:nvPr/>
        </p:nvPicPr>
        <p:blipFill>
          <a:blip r:embed="rId2"/>
          <a:stretch>
            <a:fillRect/>
          </a:stretch>
        </p:blipFill>
        <p:spPr>
          <a:xfrm>
            <a:off x="640080" y="4343400"/>
            <a:ext cx="4572000" cy="2082916"/>
          </a:xfrm>
          <a:prstGeom prst="rect">
            <a:avLst/>
          </a:prstGeom>
        </p:spPr>
      </p:pic>
      <p:sp>
        <p:nvSpPr>
          <p:cNvPr id="7" name="Shape 3"/>
          <p:cNvSpPr/>
          <p:nvPr/>
        </p:nvSpPr>
        <p:spPr>
          <a:xfrm>
            <a:off x="5486400" y="4434840"/>
            <a:ext cx="6126480" cy="1965960"/>
          </a:xfrm>
          <a:prstGeom prst="roundRect">
            <a:avLst>
              <a:gd name="adj" fmla="val 3721"/>
            </a:avLst>
          </a:prstGeom>
          <a:solidFill>
            <a:srgbClr val="F2F5F3"/>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8" name="Text 4"/>
          <p:cNvSpPr/>
          <p:nvPr/>
        </p:nvSpPr>
        <p:spPr>
          <a:xfrm>
            <a:off x="5715000" y="4572000"/>
            <a:ext cx="5669280" cy="1691640"/>
          </a:xfrm>
          <a:prstGeom prst="rect">
            <a:avLst/>
          </a:prstGeom>
          <a:noFill/>
          <a:ln/>
        </p:spPr>
        <p:txBody>
          <a:bodyPr wrap="square" rtlCol="0" anchor="t"/>
          <a:lstStyle/>
          <a:p>
            <a:pPr indent="0" marL="0">
              <a:buNone/>
            </a:pPr>
            <a:r>
              <a:rPr lang="en-US" sz="1350" b="1" dirty="0">
                <a:solidFill>
                  <a:srgbClr val="1A2B28"/>
                </a:solidFill>
                <a:latin typeface="Arial" pitchFamily="34" charset="0"/>
                <a:ea typeface="Arial" pitchFamily="34" charset="-122"/>
                <a:cs typeface="Arial" pitchFamily="34" charset="-120"/>
              </a:rPr>
              <a:t>Top: </a:t>
            </a:r>
            <a:pPr indent="0" marL="0">
              <a:spcAft>
                <a:spcPts val="1000"/>
              </a:spcAft>
              <a:buNone/>
            </a:pPr>
            <a:r>
              <a:rPr lang="en-US" sz="1350" dirty="0">
                <a:solidFill>
                  <a:srgbClr val="1A2B28"/>
                </a:solidFill>
                <a:latin typeface="Arial" pitchFamily="34" charset="0"/>
                <a:ea typeface="Arial" pitchFamily="34" charset="-122"/>
                <a:cs typeface="Arial" pitchFamily="34" charset="-120"/>
              </a:rPr>
              <a:t>the 297 changed amino acids as red ticks along the 1273-amino-acid chain, with the functional regions marked. </a:t>
            </a:r>
            <a:endParaRPr lang="en-US" sz="1350" dirty="0"/>
          </a:p>
          <a:p>
            <a:pPr indent="0" marL="0">
              <a:buNone/>
            </a:pPr>
            <a:r>
              <a:rPr lang="en-US" sz="1350" b="1" dirty="0">
                <a:solidFill>
                  <a:srgbClr val="1A2B28"/>
                </a:solidFill>
                <a:latin typeface="Arial" pitchFamily="34" charset="0"/>
                <a:ea typeface="Arial" pitchFamily="34" charset="-122"/>
                <a:cs typeface="Arial" pitchFamily="34" charset="-120"/>
              </a:rPr>
              <a:t>Bottom: </a:t>
            </a:r>
            <a:pPr indent="0" marL="0">
              <a:buNone/>
            </a:pPr>
            <a:r>
              <a:rPr lang="en-US" sz="1350" b="1" dirty="0">
                <a:solidFill>
                  <a:srgbClr val="2E7D46"/>
                </a:solidFill>
                <a:latin typeface="Arial" pitchFamily="34" charset="0"/>
                <a:ea typeface="Arial" pitchFamily="34" charset="-122"/>
                <a:cs typeface="Arial" pitchFamily="34" charset="-120"/>
              </a:rPr>
              <a:t>percent identity in a sliding window. The S2 fusion stalk stays high, while the host-facing NTD and receptor-binding domain dip the most.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2E7D46"/>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THE CENTRAL QUESTION</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How do you judge a good alignment?</a:t>
            </a:r>
            <a:endParaRPr lang="en-US" sz="3000" dirty="0"/>
          </a:p>
        </p:txBody>
      </p:sp>
      <p:sp>
        <p:nvSpPr>
          <p:cNvPr id="5" name="Text 3"/>
          <p:cNvSpPr/>
          <p:nvPr/>
        </p:nvSpPr>
        <p:spPr>
          <a:xfrm>
            <a:off x="548640" y="1783080"/>
            <a:ext cx="11064240" cy="822960"/>
          </a:xfrm>
          <a:prstGeom prst="rect">
            <a:avLst/>
          </a:prstGeom>
          <a:noFill/>
          <a:ln/>
        </p:spPr>
        <p:txBody>
          <a:bodyPr wrap="square" rtlCol="0" anchor="t"/>
          <a:lstStyle/>
          <a:p>
            <a:pPr indent="0" marL="0">
              <a:buNone/>
            </a:pPr>
            <a:r>
              <a:rPr lang="en-US" sz="1600" dirty="0">
                <a:solidFill>
                  <a:srgbClr val="1A2B28"/>
                </a:solidFill>
                <a:latin typeface="Arial" pitchFamily="34" charset="0"/>
                <a:ea typeface="Arial" pitchFamily="34" charset="-122"/>
                <a:cs typeface="Arial" pitchFamily="34" charset="-120"/>
              </a:rPr>
              <a:t>The score cannot be the judge. It is defined by the knobs you picked, so raising the match reward makes any alignment score higher without making it more correct.</a:t>
            </a:r>
            <a:endParaRPr lang="en-US" sz="1600" dirty="0"/>
          </a:p>
        </p:txBody>
      </p:sp>
      <p:sp>
        <p:nvSpPr>
          <p:cNvPr id="6" name="Shape 4"/>
          <p:cNvSpPr/>
          <p:nvPr/>
        </p:nvSpPr>
        <p:spPr>
          <a:xfrm>
            <a:off x="548640" y="2788920"/>
            <a:ext cx="5394960" cy="914400"/>
          </a:xfrm>
          <a:prstGeom prst="roundRect">
            <a:avLst>
              <a:gd name="adj" fmla="val 8000"/>
            </a:avLst>
          </a:prstGeom>
          <a:solidFill>
            <a:srgbClr val="FFFFFF"/>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7" name="Shape 5"/>
          <p:cNvSpPr/>
          <p:nvPr/>
        </p:nvSpPr>
        <p:spPr>
          <a:xfrm>
            <a:off x="749808" y="3081528"/>
            <a:ext cx="310896" cy="310896"/>
          </a:xfrm>
          <a:prstGeom prst="ellipse">
            <a:avLst/>
          </a:prstGeom>
          <a:solidFill>
            <a:srgbClr val="2E7D46"/>
          </a:solidFill>
          <a:ln/>
        </p:spPr>
      </p:sp>
      <p:sp>
        <p:nvSpPr>
          <p:cNvPr id="8" name="Text 6"/>
          <p:cNvSpPr/>
          <p:nvPr/>
        </p:nvSpPr>
        <p:spPr>
          <a:xfrm>
            <a:off x="749808" y="30815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207008" y="2926080"/>
            <a:ext cx="4572000" cy="640080"/>
          </a:xfrm>
          <a:prstGeom prst="rect">
            <a:avLst/>
          </a:prstGeom>
          <a:noFill/>
          <a:ln/>
        </p:spPr>
        <p:txBody>
          <a:bodyPr wrap="square" lIns="0" tIns="0" rIns="0" bIns="0" rtlCol="0" anchor="ctr"/>
          <a:lstStyle/>
          <a:p>
            <a:pPr indent="0" marL="0">
              <a:buNone/>
            </a:pPr>
            <a:r>
              <a:rPr lang="en-US" sz="1400" b="1" dirty="0">
                <a:solidFill>
                  <a:srgbClr val="1A2B28"/>
                </a:solidFill>
                <a:latin typeface="Arial" pitchFamily="34" charset="0"/>
                <a:ea typeface="Arial" pitchFamily="34" charset="-122"/>
                <a:cs typeface="Arial" pitchFamily="34" charset="-120"/>
              </a:rPr>
              <a:t>Percent identity.  </a:t>
            </a:r>
            <a:pPr indent="0" marL="0">
              <a:buNone/>
            </a:pPr>
            <a:r>
              <a:rPr lang="en-US" sz="1400" dirty="0">
                <a:solidFill>
                  <a:srgbClr val="5B6B66"/>
                </a:solidFill>
                <a:latin typeface="Arial" pitchFamily="34" charset="0"/>
                <a:ea typeface="Arial" pitchFamily="34" charset="-122"/>
                <a:cs typeface="Arial" pitchFamily="34" charset="-120"/>
              </a:rPr>
              <a:t>does not depend on your settings</a:t>
            </a:r>
            <a:endParaRPr lang="en-US" sz="1400" dirty="0"/>
          </a:p>
        </p:txBody>
      </p:sp>
      <p:sp>
        <p:nvSpPr>
          <p:cNvPr id="10" name="Shape 8"/>
          <p:cNvSpPr/>
          <p:nvPr/>
        </p:nvSpPr>
        <p:spPr>
          <a:xfrm>
            <a:off x="6172200" y="2788920"/>
            <a:ext cx="5394960" cy="914400"/>
          </a:xfrm>
          <a:prstGeom prst="roundRect">
            <a:avLst>
              <a:gd name="adj" fmla="val 8000"/>
            </a:avLst>
          </a:prstGeom>
          <a:solidFill>
            <a:srgbClr val="FFFFFF"/>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11" name="Shape 9"/>
          <p:cNvSpPr/>
          <p:nvPr/>
        </p:nvSpPr>
        <p:spPr>
          <a:xfrm>
            <a:off x="6373368" y="3081528"/>
            <a:ext cx="310896" cy="310896"/>
          </a:xfrm>
          <a:prstGeom prst="ellipse">
            <a:avLst/>
          </a:prstGeom>
          <a:solidFill>
            <a:srgbClr val="2E7D46"/>
          </a:solidFill>
          <a:ln/>
        </p:spPr>
      </p:sp>
      <p:sp>
        <p:nvSpPr>
          <p:cNvPr id="12" name="Text 10"/>
          <p:cNvSpPr/>
          <p:nvPr/>
        </p:nvSpPr>
        <p:spPr>
          <a:xfrm>
            <a:off x="6373368" y="308152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1"/>
          <p:cNvSpPr/>
          <p:nvPr/>
        </p:nvSpPr>
        <p:spPr>
          <a:xfrm>
            <a:off x="6830568" y="2926080"/>
            <a:ext cx="4572000" cy="640080"/>
          </a:xfrm>
          <a:prstGeom prst="rect">
            <a:avLst/>
          </a:prstGeom>
          <a:noFill/>
          <a:ln/>
        </p:spPr>
        <p:txBody>
          <a:bodyPr wrap="square" lIns="0" tIns="0" rIns="0" bIns="0" rtlCol="0" anchor="ctr"/>
          <a:lstStyle/>
          <a:p>
            <a:pPr indent="0" marL="0">
              <a:buNone/>
            </a:pPr>
            <a:r>
              <a:rPr lang="en-US" sz="1400" b="1" dirty="0">
                <a:solidFill>
                  <a:srgbClr val="1A2B28"/>
                </a:solidFill>
                <a:latin typeface="Arial" pitchFamily="34" charset="0"/>
                <a:ea typeface="Arial" pitchFamily="34" charset="-122"/>
                <a:cs typeface="Arial" pitchFamily="34" charset="-120"/>
              </a:rPr>
              <a:t>Gap structure.  </a:t>
            </a:r>
            <a:pPr indent="0" marL="0">
              <a:buNone/>
            </a:pPr>
            <a:r>
              <a:rPr lang="en-US" sz="1400" dirty="0">
                <a:solidFill>
                  <a:srgbClr val="5B6B66"/>
                </a:solidFill>
                <a:latin typeface="Arial" pitchFamily="34" charset="0"/>
                <a:ea typeface="Arial" pitchFamily="34" charset="-122"/>
                <a:cs typeface="Arial" pitchFamily="34" charset="-120"/>
              </a:rPr>
              <a:t>a few long gaps beat many scattered ones</a:t>
            </a:r>
            <a:endParaRPr lang="en-US" sz="1400" dirty="0"/>
          </a:p>
        </p:txBody>
      </p:sp>
      <p:sp>
        <p:nvSpPr>
          <p:cNvPr id="14" name="Shape 12"/>
          <p:cNvSpPr/>
          <p:nvPr/>
        </p:nvSpPr>
        <p:spPr>
          <a:xfrm>
            <a:off x="548640" y="3840480"/>
            <a:ext cx="5394960" cy="914400"/>
          </a:xfrm>
          <a:prstGeom prst="roundRect">
            <a:avLst>
              <a:gd name="adj" fmla="val 8000"/>
            </a:avLst>
          </a:prstGeom>
          <a:solidFill>
            <a:srgbClr val="FFFFFF"/>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15" name="Shape 13"/>
          <p:cNvSpPr/>
          <p:nvPr/>
        </p:nvSpPr>
        <p:spPr>
          <a:xfrm>
            <a:off x="749808" y="4133088"/>
            <a:ext cx="310896" cy="310896"/>
          </a:xfrm>
          <a:prstGeom prst="ellipse">
            <a:avLst/>
          </a:prstGeom>
          <a:solidFill>
            <a:srgbClr val="2E7D46"/>
          </a:solidFill>
          <a:ln/>
        </p:spPr>
      </p:sp>
      <p:sp>
        <p:nvSpPr>
          <p:cNvPr id="16" name="Text 14"/>
          <p:cNvSpPr/>
          <p:nvPr/>
        </p:nvSpPr>
        <p:spPr>
          <a:xfrm>
            <a:off x="749808" y="413308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5"/>
          <p:cNvSpPr/>
          <p:nvPr/>
        </p:nvSpPr>
        <p:spPr>
          <a:xfrm>
            <a:off x="1207008" y="3977640"/>
            <a:ext cx="4572000" cy="640080"/>
          </a:xfrm>
          <a:prstGeom prst="rect">
            <a:avLst/>
          </a:prstGeom>
          <a:noFill/>
          <a:ln/>
        </p:spPr>
        <p:txBody>
          <a:bodyPr wrap="square" lIns="0" tIns="0" rIns="0" bIns="0" rtlCol="0" anchor="ctr"/>
          <a:lstStyle/>
          <a:p>
            <a:pPr indent="0" marL="0">
              <a:buNone/>
            </a:pPr>
            <a:r>
              <a:rPr lang="en-US" sz="1400" b="1" dirty="0">
                <a:solidFill>
                  <a:srgbClr val="1A2B28"/>
                </a:solidFill>
                <a:latin typeface="Arial" pitchFamily="34" charset="0"/>
                <a:ea typeface="Arial" pitchFamily="34" charset="-122"/>
                <a:cs typeface="Arial" pitchFamily="34" charset="-120"/>
              </a:rPr>
              <a:t>Conserved regions.  </a:t>
            </a:r>
            <a:pPr indent="0" marL="0">
              <a:buNone/>
            </a:pPr>
            <a:r>
              <a:rPr lang="en-US" sz="1400" dirty="0">
                <a:solidFill>
                  <a:srgbClr val="5B6B66"/>
                </a:solidFill>
                <a:latin typeface="Arial" pitchFamily="34" charset="0"/>
                <a:ea typeface="Arial" pitchFamily="34" charset="-122"/>
                <a:cs typeface="Arial" pitchFamily="34" charset="-120"/>
              </a:rPr>
              <a:t>do the known important parts line up</a:t>
            </a:r>
            <a:endParaRPr lang="en-US" sz="1400" dirty="0"/>
          </a:p>
        </p:txBody>
      </p:sp>
      <p:sp>
        <p:nvSpPr>
          <p:cNvPr id="18" name="Shape 16"/>
          <p:cNvSpPr/>
          <p:nvPr/>
        </p:nvSpPr>
        <p:spPr>
          <a:xfrm>
            <a:off x="6172200" y="3840480"/>
            <a:ext cx="5394960" cy="914400"/>
          </a:xfrm>
          <a:prstGeom prst="roundRect">
            <a:avLst>
              <a:gd name="adj" fmla="val 8000"/>
            </a:avLst>
          </a:prstGeom>
          <a:solidFill>
            <a:srgbClr val="FFFFFF"/>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19" name="Shape 17"/>
          <p:cNvSpPr/>
          <p:nvPr/>
        </p:nvSpPr>
        <p:spPr>
          <a:xfrm>
            <a:off x="6373368" y="4133088"/>
            <a:ext cx="310896" cy="310896"/>
          </a:xfrm>
          <a:prstGeom prst="ellipse">
            <a:avLst/>
          </a:prstGeom>
          <a:solidFill>
            <a:srgbClr val="2E7D46"/>
          </a:solidFill>
          <a:ln/>
        </p:spPr>
      </p:sp>
      <p:sp>
        <p:nvSpPr>
          <p:cNvPr id="20" name="Text 18"/>
          <p:cNvSpPr/>
          <p:nvPr/>
        </p:nvSpPr>
        <p:spPr>
          <a:xfrm>
            <a:off x="6373368" y="413308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1" name="Text 19"/>
          <p:cNvSpPr/>
          <p:nvPr/>
        </p:nvSpPr>
        <p:spPr>
          <a:xfrm>
            <a:off x="6830568" y="3977640"/>
            <a:ext cx="4572000" cy="640080"/>
          </a:xfrm>
          <a:prstGeom prst="rect">
            <a:avLst/>
          </a:prstGeom>
          <a:noFill/>
          <a:ln/>
        </p:spPr>
        <p:txBody>
          <a:bodyPr wrap="square" lIns="0" tIns="0" rIns="0" bIns="0" rtlCol="0" anchor="ctr"/>
          <a:lstStyle/>
          <a:p>
            <a:pPr indent="0" marL="0">
              <a:buNone/>
            </a:pPr>
            <a:r>
              <a:rPr lang="en-US" sz="1400" b="1" dirty="0">
                <a:solidFill>
                  <a:srgbClr val="1A2B28"/>
                </a:solidFill>
                <a:latin typeface="Arial" pitchFamily="34" charset="0"/>
                <a:ea typeface="Arial" pitchFamily="34" charset="-122"/>
                <a:cs typeface="Arial" pitchFamily="34" charset="-120"/>
              </a:rPr>
              <a:t>Better than chance.  </a:t>
            </a:r>
            <a:pPr indent="0" marL="0">
              <a:buNone/>
            </a:pPr>
            <a:r>
              <a:rPr lang="en-US" sz="1400" dirty="0">
                <a:solidFill>
                  <a:srgbClr val="5B6B66"/>
                </a:solidFill>
                <a:latin typeface="Arial" pitchFamily="34" charset="0"/>
                <a:ea typeface="Arial" pitchFamily="34" charset="-122"/>
                <a:cs typeface="Arial" pitchFamily="34" charset="-120"/>
              </a:rPr>
              <a:t>is the score real or just luck</a:t>
            </a:r>
            <a:endParaRPr lang="en-US" sz="1400" dirty="0"/>
          </a:p>
        </p:txBody>
      </p:sp>
      <p:sp>
        <p:nvSpPr>
          <p:cNvPr id="22" name="Shape 20"/>
          <p:cNvSpPr/>
          <p:nvPr/>
        </p:nvSpPr>
        <p:spPr>
          <a:xfrm>
            <a:off x="548640" y="4892040"/>
            <a:ext cx="5394960" cy="914400"/>
          </a:xfrm>
          <a:prstGeom prst="roundRect">
            <a:avLst>
              <a:gd name="adj" fmla="val 8000"/>
            </a:avLst>
          </a:prstGeom>
          <a:solidFill>
            <a:srgbClr val="FFFFFF"/>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23" name="Shape 21"/>
          <p:cNvSpPr/>
          <p:nvPr/>
        </p:nvSpPr>
        <p:spPr>
          <a:xfrm>
            <a:off x="749808" y="5184648"/>
            <a:ext cx="310896" cy="310896"/>
          </a:xfrm>
          <a:prstGeom prst="ellipse">
            <a:avLst/>
          </a:prstGeom>
          <a:solidFill>
            <a:srgbClr val="2E7D46"/>
          </a:solidFill>
          <a:ln/>
        </p:spPr>
      </p:sp>
      <p:sp>
        <p:nvSpPr>
          <p:cNvPr id="24" name="Text 22"/>
          <p:cNvSpPr/>
          <p:nvPr/>
        </p:nvSpPr>
        <p:spPr>
          <a:xfrm>
            <a:off x="749808" y="51846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5" name="Text 23"/>
          <p:cNvSpPr/>
          <p:nvPr/>
        </p:nvSpPr>
        <p:spPr>
          <a:xfrm>
            <a:off x="1207008" y="5029200"/>
            <a:ext cx="4572000" cy="640080"/>
          </a:xfrm>
          <a:prstGeom prst="rect">
            <a:avLst/>
          </a:prstGeom>
          <a:noFill/>
          <a:ln/>
        </p:spPr>
        <p:txBody>
          <a:bodyPr wrap="square" lIns="0" tIns="0" rIns="0" bIns="0" rtlCol="0" anchor="ctr"/>
          <a:lstStyle/>
          <a:p>
            <a:pPr indent="0" marL="0">
              <a:buNone/>
            </a:pPr>
            <a:r>
              <a:rPr lang="en-US" sz="1400" b="1" dirty="0">
                <a:solidFill>
                  <a:srgbClr val="1A2B28"/>
                </a:solidFill>
                <a:latin typeface="Arial" pitchFamily="34" charset="0"/>
                <a:ea typeface="Arial" pitchFamily="34" charset="-122"/>
                <a:cs typeface="Arial" pitchFamily="34" charset="-120"/>
              </a:rPr>
              <a:t>Independent evidence.  </a:t>
            </a:r>
            <a:pPr indent="0" marL="0">
              <a:buNone/>
            </a:pPr>
            <a:r>
              <a:rPr lang="en-US" sz="1400" dirty="0">
                <a:solidFill>
                  <a:srgbClr val="5B6B66"/>
                </a:solidFill>
                <a:latin typeface="Arial" pitchFamily="34" charset="0"/>
                <a:ea typeface="Arial" pitchFamily="34" charset="-122"/>
                <a:cs typeface="Arial" pitchFamily="34" charset="-120"/>
              </a:rPr>
              <a:t>does a pro tool or the 3D structure agree</a:t>
            </a:r>
            <a:endParaRPr lang="en-US" sz="1400" dirty="0"/>
          </a:p>
        </p:txBody>
      </p:sp>
      <p:sp>
        <p:nvSpPr>
          <p:cNvPr id="26" name="Shape 24"/>
          <p:cNvSpPr/>
          <p:nvPr/>
        </p:nvSpPr>
        <p:spPr>
          <a:xfrm>
            <a:off x="6172200" y="4892040"/>
            <a:ext cx="5394960" cy="914400"/>
          </a:xfrm>
          <a:prstGeom prst="roundRect">
            <a:avLst>
              <a:gd name="adj" fmla="val 8000"/>
            </a:avLst>
          </a:prstGeom>
          <a:solidFill>
            <a:srgbClr val="FFFFFF"/>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27" name="Shape 25"/>
          <p:cNvSpPr/>
          <p:nvPr/>
        </p:nvSpPr>
        <p:spPr>
          <a:xfrm>
            <a:off x="6373368" y="5184648"/>
            <a:ext cx="310896" cy="310896"/>
          </a:xfrm>
          <a:prstGeom prst="ellipse">
            <a:avLst/>
          </a:prstGeom>
          <a:solidFill>
            <a:srgbClr val="2E7D46"/>
          </a:solidFill>
          <a:ln/>
        </p:spPr>
      </p:sp>
      <p:sp>
        <p:nvSpPr>
          <p:cNvPr id="28" name="Text 26"/>
          <p:cNvSpPr/>
          <p:nvPr/>
        </p:nvSpPr>
        <p:spPr>
          <a:xfrm>
            <a:off x="6373368" y="5184648"/>
            <a:ext cx="310896"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9" name="Text 27"/>
          <p:cNvSpPr/>
          <p:nvPr/>
        </p:nvSpPr>
        <p:spPr>
          <a:xfrm>
            <a:off x="6830568" y="5029200"/>
            <a:ext cx="4572000" cy="640080"/>
          </a:xfrm>
          <a:prstGeom prst="rect">
            <a:avLst/>
          </a:prstGeom>
          <a:noFill/>
          <a:ln/>
        </p:spPr>
        <p:txBody>
          <a:bodyPr wrap="square" lIns="0" tIns="0" rIns="0" bIns="0" rtlCol="0" anchor="ctr"/>
          <a:lstStyle/>
          <a:p>
            <a:pPr indent="0" marL="0">
              <a:buNone/>
            </a:pPr>
            <a:r>
              <a:rPr lang="en-US" sz="1400" b="1" dirty="0">
                <a:solidFill>
                  <a:srgbClr val="1A2B28"/>
                </a:solidFill>
                <a:latin typeface="Arial" pitchFamily="34" charset="0"/>
                <a:ea typeface="Arial" pitchFamily="34" charset="-122"/>
                <a:cs typeface="Arial" pitchFamily="34" charset="-120"/>
              </a:rPr>
              <a:t>Believable history.  </a:t>
            </a:r>
            <a:pPr indent="0" marL="0">
              <a:buNone/>
            </a:pPr>
            <a:r>
              <a:rPr lang="en-US" sz="1400" dirty="0">
                <a:solidFill>
                  <a:srgbClr val="5B6B66"/>
                </a:solidFill>
                <a:latin typeface="Arial" pitchFamily="34" charset="0"/>
                <a:ea typeface="Arial" pitchFamily="34" charset="-122"/>
                <a:cs typeface="Arial" pitchFamily="34" charset="-120"/>
              </a:rPr>
              <a:t>are the implied mutations plausible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C43D2E"/>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STRETCH: THE GAP PROBLEM</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One gap penalty cannot do the job</a:t>
            </a:r>
            <a:endParaRPr lang="en-US" sz="3000" dirty="0"/>
          </a:p>
        </p:txBody>
      </p:sp>
      <p:pic>
        <p:nvPicPr>
          <p:cNvPr id="5" name="Image 0" descr="figures/fig5_gap_problem.png">    </p:cNvPr>
          <p:cNvPicPr>
            <a:picLocks noChangeAspect="1"/>
          </p:cNvPicPr>
          <p:nvPr/>
        </p:nvPicPr>
        <p:blipFill>
          <a:blip r:embed="rId1"/>
          <a:srcRect l="-118056" r="-118056" t="0" b="0"/>
          <a:stretch/>
        </p:blipFill>
        <p:spPr>
          <a:xfrm>
            <a:off x="548640" y="1691640"/>
            <a:ext cx="11064240" cy="3291840"/>
          </a:xfrm>
          <a:prstGeom prst="rect">
            <a:avLst/>
          </a:prstGeom>
        </p:spPr>
      </p:pic>
      <p:sp>
        <p:nvSpPr>
          <p:cNvPr id="6" name="Shape 3"/>
          <p:cNvSpPr/>
          <p:nvPr/>
        </p:nvSpPr>
        <p:spPr>
          <a:xfrm>
            <a:off x="548640" y="5257800"/>
            <a:ext cx="11064240" cy="1188720"/>
          </a:xfrm>
          <a:prstGeom prst="roundRect">
            <a:avLst>
              <a:gd name="adj" fmla="val 6154"/>
            </a:avLst>
          </a:prstGeom>
          <a:solidFill>
            <a:srgbClr val="FBEDEB"/>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7" name="Text 4"/>
          <p:cNvSpPr/>
          <p:nvPr/>
        </p:nvSpPr>
        <p:spPr>
          <a:xfrm>
            <a:off x="777240" y="5394960"/>
            <a:ext cx="10607040" cy="914400"/>
          </a:xfrm>
          <a:prstGeom prst="rect">
            <a:avLst/>
          </a:prstGeom>
          <a:noFill/>
          <a:ln/>
        </p:spPr>
        <p:txBody>
          <a:bodyPr wrap="square" rtlCol="0" anchor="ctr"/>
          <a:lstStyle/>
          <a:p>
            <a:pPr indent="0" marL="0">
              <a:buNone/>
            </a:pPr>
            <a:r>
              <a:rPr lang="en-US" sz="1450" dirty="0">
                <a:solidFill>
                  <a:srgbClr val="1A2B28"/>
                </a:solidFill>
                <a:latin typeface="Arial" pitchFamily="34" charset="0"/>
                <a:ea typeface="Arial" pitchFamily="34" charset="-122"/>
                <a:cs typeface="Arial" pitchFamily="34" charset="-120"/>
              </a:rPr>
              <a:t>With a flat penalty, a length-9 gap costs exactly the same as nine length-1 gaps, so no single value can both allow a real insertion and block scattered gaps. </a:t>
            </a:r>
            <a:pPr indent="0" marL="0">
              <a:buNone/>
            </a:pPr>
            <a:r>
              <a:rPr lang="en-US" sz="1450" b="1" dirty="0">
                <a:solidFill>
                  <a:srgbClr val="C43D2E"/>
                </a:solidFill>
                <a:latin typeface="Arial" pitchFamily="34" charset="0"/>
                <a:ea typeface="Arial" pitchFamily="34" charset="-122"/>
                <a:cs typeface="Arial" pitchFamily="34" charset="-120"/>
              </a:rPr>
              <a:t>Affine gaps fix it: opening a gap is expensive, extending one is cheap.</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146304"/>
          </a:xfrm>
          <a:prstGeom prst="ellipse">
            <a:avLst/>
          </a:prstGeom>
          <a:solidFill>
            <a:srgbClr val="2E7D46"/>
          </a:solidFill>
          <a:ln/>
        </p:spPr>
      </p:sp>
      <p:sp>
        <p:nvSpPr>
          <p:cNvPr id="3" name="Text 1"/>
          <p:cNvSpPr/>
          <p:nvPr/>
        </p:nvSpPr>
        <p:spPr>
          <a:xfrm>
            <a:off x="777240" y="475488"/>
            <a:ext cx="10058400" cy="320040"/>
          </a:xfrm>
          <a:prstGeom prst="rect">
            <a:avLst/>
          </a:prstGeom>
          <a:noFill/>
          <a:ln/>
        </p:spPr>
        <p:txBody>
          <a:bodyPr wrap="square" lIns="0" tIns="0" rIns="0" bIns="0" rtlCol="0" anchor="ctr"/>
          <a:lstStyle/>
          <a:p>
            <a:pPr indent="0" marL="0">
              <a:buNone/>
            </a:pPr>
            <a:r>
              <a:rPr lang="en-US" sz="1200" spc="200" kern="0" dirty="0">
                <a:solidFill>
                  <a:srgbClr val="5B6B66"/>
                </a:solidFill>
                <a:latin typeface="Arial" pitchFamily="34" charset="0"/>
                <a:ea typeface="Arial" pitchFamily="34" charset="-122"/>
                <a:cs typeface="Arial" pitchFamily="34" charset="-120"/>
              </a:rPr>
              <a:t>STRETCH: SANITY CHECK</a:t>
            </a:r>
            <a:endParaRPr lang="en-US" sz="1200" dirty="0"/>
          </a:p>
        </p:txBody>
      </p:sp>
      <p:sp>
        <p:nvSpPr>
          <p:cNvPr id="4" name="Text 2"/>
          <p:cNvSpPr/>
          <p:nvPr/>
        </p:nvSpPr>
        <p:spPr>
          <a:xfrm>
            <a:off x="530352" y="822960"/>
            <a:ext cx="11064240" cy="822960"/>
          </a:xfrm>
          <a:prstGeom prst="rect">
            <a:avLst/>
          </a:prstGeom>
          <a:noFill/>
          <a:ln/>
        </p:spPr>
        <p:txBody>
          <a:bodyPr wrap="square" lIns="0" tIns="0" rIns="0" bIns="0" rtlCol="0" anchor="ctr"/>
          <a:lstStyle/>
          <a:p>
            <a:pPr indent="0" marL="0">
              <a:buNone/>
            </a:pPr>
            <a:r>
              <a:rPr lang="en-US" sz="3000" b="1" dirty="0">
                <a:solidFill>
                  <a:srgbClr val="1A2B28"/>
                </a:solidFill>
                <a:latin typeface="Cambria" pitchFamily="34" charset="0"/>
                <a:ea typeface="Cambria" pitchFamily="34" charset="-122"/>
                <a:cs typeface="Cambria" pitchFamily="34" charset="-120"/>
              </a:rPr>
              <a:t>Does my aligner agree with the pros?</a:t>
            </a:r>
            <a:endParaRPr lang="en-US" sz="3000" dirty="0"/>
          </a:p>
        </p:txBody>
      </p:sp>
      <p:sp>
        <p:nvSpPr>
          <p:cNvPr id="5" name="Shape 3"/>
          <p:cNvSpPr/>
          <p:nvPr/>
        </p:nvSpPr>
        <p:spPr>
          <a:xfrm>
            <a:off x="548640" y="2011680"/>
            <a:ext cx="11064240" cy="2011680"/>
          </a:xfrm>
          <a:prstGeom prst="roundRect">
            <a:avLst>
              <a:gd name="adj" fmla="val 3636"/>
            </a:avLst>
          </a:prstGeom>
          <a:solidFill>
            <a:srgbClr val="F2F5F3"/>
          </a:solidFill>
          <a:ln w="12700">
            <a:solidFill>
              <a:srgbClr val="D9E2DD"/>
            </a:solidFill>
            <a:prstDash val="solid"/>
          </a:ln>
          <a:effectLst>
            <a:outerShdw sx="100000" sy="100000" kx="0" ky="0" algn="bl" rotWithShape="0" blurRad="88900" dist="38100" dir="5400000">
              <a:srgbClr val="000000">
                <a:alpha val="10000"/>
              </a:srgbClr>
            </a:outerShdw>
          </a:effectLst>
        </p:spPr>
      </p:sp>
      <p:sp>
        <p:nvSpPr>
          <p:cNvPr id="6" name="Text 4"/>
          <p:cNvSpPr/>
          <p:nvPr/>
        </p:nvSpPr>
        <p:spPr>
          <a:xfrm>
            <a:off x="1005840" y="2377440"/>
            <a:ext cx="5120640" cy="1280160"/>
          </a:xfrm>
          <a:prstGeom prst="rect">
            <a:avLst/>
          </a:prstGeom>
          <a:noFill/>
          <a:ln/>
        </p:spPr>
        <p:txBody>
          <a:bodyPr wrap="square" lIns="0" tIns="0" rIns="0" bIns="0" rtlCol="0" anchor="ctr"/>
          <a:lstStyle/>
          <a:p>
            <a:pPr indent="0" marL="0">
              <a:buNone/>
            </a:pPr>
            <a:r>
              <a:rPr lang="en-US" sz="5400" b="1" dirty="0">
                <a:solidFill>
                  <a:srgbClr val="2E7D46"/>
                </a:solidFill>
                <a:latin typeface="Cambria" pitchFamily="34" charset="0"/>
                <a:ea typeface="Cambria" pitchFamily="34" charset="-122"/>
                <a:cs typeface="Cambria" pitchFamily="34" charset="-120"/>
              </a:rPr>
              <a:t>777.0</a:t>
            </a:r>
            <a:pPr indent="0" marL="0">
              <a:buNone/>
            </a:pPr>
            <a:r>
              <a:rPr lang="en-US" sz="2000" dirty="0">
                <a:solidFill>
                  <a:srgbClr val="5B6B66"/>
                </a:solidFill>
                <a:latin typeface="Cambria" pitchFamily="34" charset="0"/>
                <a:ea typeface="Cambria" pitchFamily="34" charset="-122"/>
                <a:cs typeface="Cambria" pitchFamily="34" charset="-120"/>
              </a:rPr>
              <a:t>  optimal score</a:t>
            </a:r>
            <a:endParaRPr lang="en-US" sz="5400" dirty="0"/>
          </a:p>
        </p:txBody>
      </p:sp>
      <p:sp>
        <p:nvSpPr>
          <p:cNvPr id="7" name="Text 5"/>
          <p:cNvSpPr/>
          <p:nvPr/>
        </p:nvSpPr>
        <p:spPr>
          <a:xfrm>
            <a:off x="6309360" y="2377440"/>
            <a:ext cx="5120640" cy="1280160"/>
          </a:xfrm>
          <a:prstGeom prst="rect">
            <a:avLst/>
          </a:prstGeom>
          <a:noFill/>
          <a:ln/>
        </p:spPr>
        <p:txBody>
          <a:bodyPr wrap="square" lIns="0" tIns="0" rIns="0" bIns="0" rtlCol="0" anchor="ctr"/>
          <a:lstStyle/>
          <a:p>
            <a:pPr indent="0" marL="0">
              <a:buNone/>
            </a:pPr>
            <a:r>
              <a:rPr lang="en-US" sz="5400" b="1" dirty="0">
                <a:solidFill>
                  <a:srgbClr val="2E7D46"/>
                </a:solidFill>
                <a:latin typeface="Cambria" pitchFamily="34" charset="0"/>
                <a:ea typeface="Cambria" pitchFamily="34" charset="-122"/>
                <a:cs typeface="Cambria" pitchFamily="34" charset="-120"/>
              </a:rPr>
              <a:t>99.32%</a:t>
            </a:r>
            <a:pPr indent="0" marL="0">
              <a:buNone/>
            </a:pPr>
            <a:r>
              <a:rPr lang="en-US" sz="2000" dirty="0">
                <a:solidFill>
                  <a:srgbClr val="5B6B66"/>
                </a:solidFill>
                <a:latin typeface="Cambria" pitchFamily="34" charset="0"/>
                <a:ea typeface="Cambria" pitchFamily="34" charset="-122"/>
                <a:cs typeface="Cambria" pitchFamily="34" charset="-120"/>
              </a:rPr>
              <a:t>  percent identity</a:t>
            </a:r>
            <a:endParaRPr lang="en-US" sz="5400" dirty="0"/>
          </a:p>
        </p:txBody>
      </p:sp>
      <p:sp>
        <p:nvSpPr>
          <p:cNvPr id="8" name="Text 6"/>
          <p:cNvSpPr/>
          <p:nvPr/>
        </p:nvSpPr>
        <p:spPr>
          <a:xfrm>
            <a:off x="548640" y="4297680"/>
            <a:ext cx="11064240" cy="1645920"/>
          </a:xfrm>
          <a:prstGeom prst="rect">
            <a:avLst/>
          </a:prstGeom>
          <a:noFill/>
          <a:ln/>
        </p:spPr>
        <p:txBody>
          <a:bodyPr wrap="square" rtlCol="0" anchor="t"/>
          <a:lstStyle/>
          <a:p>
            <a:pPr indent="0" marL="0">
              <a:buNone/>
            </a:pPr>
            <a:r>
              <a:rPr lang="en-US" sz="1600" dirty="0">
                <a:solidFill>
                  <a:srgbClr val="1A2B28"/>
                </a:solidFill>
                <a:latin typeface="Arial" pitchFamily="34" charset="0"/>
                <a:ea typeface="Arial" pitchFamily="34" charset="-122"/>
                <a:cs typeface="Arial" pitchFamily="34" charset="-120"/>
              </a:rPr>
              <a:t>My engine and Biopython (a tool professionals use) gave the exact same optimal score and identity on the same sequences with the same settings. Same optimum means the engine is correct. When there is a tie, two tools can show different-looking alignments that still score the same.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32E"/>
        </a:solidFill>
      </p:bgPr>
    </p:bg>
    <p:spTree>
      <p:nvGrpSpPr>
        <p:cNvPr id="1" name=""/>
        <p:cNvGrpSpPr/>
        <p:nvPr/>
      </p:nvGrpSpPr>
      <p:grpSpPr>
        <a:xfrm>
          <a:off x="0" y="0"/>
          <a:ext cx="0" cy="0"/>
          <a:chOff x="0" y="0"/>
          <a:chExt cx="0" cy="0"/>
        </a:xfrm>
      </p:grpSpPr>
      <p:sp>
        <p:nvSpPr>
          <p:cNvPr id="2" name="Text 0"/>
          <p:cNvSpPr/>
          <p:nvPr/>
        </p:nvSpPr>
        <p:spPr>
          <a:xfrm>
            <a:off x="914400" y="2286000"/>
            <a:ext cx="10332720" cy="82296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score rewards what you tell it to.</a:t>
            </a:r>
            <a:endParaRPr lang="en-US" sz="3600" dirty="0"/>
          </a:p>
        </p:txBody>
      </p:sp>
      <p:sp>
        <p:nvSpPr>
          <p:cNvPr id="3" name="Text 1"/>
          <p:cNvSpPr/>
          <p:nvPr/>
        </p:nvSpPr>
        <p:spPr>
          <a:xfrm>
            <a:off x="914400" y="3108960"/>
            <a:ext cx="10332720" cy="822960"/>
          </a:xfrm>
          <a:prstGeom prst="rect">
            <a:avLst/>
          </a:prstGeom>
          <a:noFill/>
          <a:ln/>
        </p:spPr>
        <p:txBody>
          <a:bodyPr wrap="square" rtlCol="0" anchor="ctr"/>
          <a:lstStyle/>
          <a:p>
            <a:pPr indent="0" marL="0">
              <a:buNone/>
            </a:pPr>
            <a:r>
              <a:rPr lang="en-US" sz="3600" b="1" dirty="0">
                <a:solidFill>
                  <a:srgbClr val="8FD1A6"/>
                </a:solidFill>
                <a:latin typeface="Cambria" pitchFamily="34" charset="0"/>
                <a:ea typeface="Cambria" pitchFamily="34" charset="-122"/>
                <a:cs typeface="Cambria" pitchFamily="34" charset="-120"/>
              </a:rPr>
              <a:t>Biology decides what is true.</a:t>
            </a:r>
            <a:endParaRPr lang="en-US" sz="3600" dirty="0"/>
          </a:p>
        </p:txBody>
      </p:sp>
      <p:sp>
        <p:nvSpPr>
          <p:cNvPr id="4" name="Text 2"/>
          <p:cNvSpPr/>
          <p:nvPr/>
        </p:nvSpPr>
        <p:spPr>
          <a:xfrm>
            <a:off x="914400" y="4206240"/>
            <a:ext cx="9875520" cy="914400"/>
          </a:xfrm>
          <a:prstGeom prst="rect">
            <a:avLst/>
          </a:prstGeom>
          <a:noFill/>
          <a:ln/>
        </p:spPr>
        <p:txBody>
          <a:bodyPr wrap="square" rtlCol="0" anchor="ctr"/>
          <a:lstStyle/>
          <a:p>
            <a:pPr indent="0" marL="0">
              <a:buNone/>
            </a:pPr>
            <a:r>
              <a:rPr lang="en-US" sz="1700" dirty="0">
                <a:solidFill>
                  <a:srgbClr val="CADCD6"/>
                </a:solidFill>
                <a:latin typeface="Arial" pitchFamily="34" charset="0"/>
                <a:ea typeface="Arial" pitchFamily="34" charset="-122"/>
                <a:cs typeface="Arial" pitchFamily="34" charset="-120"/>
              </a:rPr>
              <a:t>A tunable aligner, a good-versus-bad story, the DNA-versus-protein comparison, and a 3D view of the mutations that matter. Everything runs on my own alignment code.</a:t>
            </a:r>
            <a:endParaRPr lang="en-US" sz="1700" dirty="0"/>
          </a:p>
        </p:txBody>
      </p:sp>
      <p:sp>
        <p:nvSpPr>
          <p:cNvPr id="5" name="Text 3"/>
          <p:cNvSpPr/>
          <p:nvPr/>
        </p:nvSpPr>
        <p:spPr>
          <a:xfrm>
            <a:off x="914400" y="5394960"/>
            <a:ext cx="10058400" cy="457200"/>
          </a:xfrm>
          <a:prstGeom prst="rect">
            <a:avLst/>
          </a:prstGeom>
          <a:noFill/>
          <a:ln/>
        </p:spPr>
        <p:txBody>
          <a:bodyPr wrap="square" rtlCol="0" anchor="ctr"/>
          <a:lstStyle/>
          <a:p>
            <a:pPr indent="0" marL="0">
              <a:buNone/>
            </a:pPr>
            <a:r>
              <a:rPr lang="en-US" sz="1500" dirty="0">
                <a:solidFill>
                  <a:srgbClr val="9DB3AC"/>
                </a:solidFill>
                <a:latin typeface="Arial" pitchFamily="34" charset="0"/>
                <a:ea typeface="Arial" pitchFamily="34" charset="-122"/>
                <a:cs typeface="Arial" pitchFamily="34" charset="-120"/>
              </a:rPr>
              <a:t>Thank you.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and tune your own sequence aligner</dc:title>
  <dc:subject>PptxGenJS Presentation</dc:subject>
  <dc:creator>Thomas</dc:creator>
  <cp:lastModifiedBy>Thomas</cp:lastModifiedBy>
  <cp:revision>1</cp:revision>
  <dcterms:created xsi:type="dcterms:W3CDTF">2026-07-01T01:44:10Z</dcterms:created>
  <dcterms:modified xsi:type="dcterms:W3CDTF">2026-07-01T01:44:10Z</dcterms:modified>
</cp:coreProperties>
</file>